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s>
</file>

<file path=ppt/presentation.xml><?xml version="1.0" encoding="utf-8"?>
<!--Generated by Aspose.Slides for .NET 25.5-->
<p:presentation xmlns:r="http://schemas.openxmlformats.org/officeDocument/2006/relationships" xmlns:a="http://schemas.openxmlformats.org/drawingml/2006/main" xmlns:p="http://schemas.openxmlformats.org/presentationml/2006/main" saveSubsetFonts="1">
  <p:sldMasterIdLst>
    <p:sldMasterId id="2147483928" r:id="rId1"/>
  </p:sldMasterIdLst>
  <p:sldIdLst>
    <p:sldId id="258" r:id="rId2"/>
    <p:sldId id="259" r:id="rId3"/>
    <p:sldId id="260" r:id="rId4"/>
    <p:sldId id="261" r:id="rId5"/>
    <p:sldId id="262" r:id="rId6"/>
    <p:sldId id="263" r:id="rId7"/>
    <p:sldId id="264" r:id="rId8"/>
    <p:sldId id="265" r:id="rId9"/>
    <p:sldId id="266" r:id="rId10"/>
    <p:sldId id="267" r:id="rId11"/>
    <p:sldId id="268" r:id="rId12"/>
    <p:sldId id="270" r:id="rId13"/>
    <p:sldId id="271" r:id="rId14"/>
    <p:sldId id="272" r:id="rId15"/>
    <p:sldId id="273" r:id="rId16"/>
    <p:sldId id="274" r:id="rId17"/>
    <p:sldId id="275" r:id="rId18"/>
    <p:sldId id="276" r:id="rId19"/>
    <p:sldId id="277" r:id="rId20"/>
  </p:sldIdLst>
  <p:sldSz cx="12192000" cy="6858000"/>
  <p:notesSz cx="6858000" cy="9144000"/>
  <p:custDataLst>
    <p:tags r:id="rId21"/>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r="http://schemas.openxmlformats.org/officeDocument/2006/relationships" xmlns:a="http://schemas.openxmlformats.org/drawingml/2006/main"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9" d="100"/>
          <a:sy n="89" d="100"/>
        </p:scale>
        <p:origin x="466" y="72"/>
      </p:cViewPr>
      <p:guideLst/>
    </p:cSldViewPr>
  </p:slideViewPr>
  <p:notesTextViewPr>
    <p:cViewPr>
      <p:scale>
        <a:sx n="1" d="1"/>
        <a:sy n="1" d="1"/>
      </p:scale>
      <p:origin x="0" y="0"/>
    </p:cViewPr>
  </p:notesTextViewPr>
  <p:notesViewPr>
    <p:cSldViewPr>
      <p:cViewPr>
        <p:scale>
          <a:sx n="1" d="100"/>
          <a:sy n="1" d="100"/>
        </p:scale>
        <p:origin x="0" y="0"/>
      </p:cViewPr>
      <p:guideLst/>
    </p:cSldViewPr>
  </p:notesViewPr>
  <p:gridSpacing cx="72008" cy="72008"/>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 Type="http://schemas.openxmlformats.org/officeDocument/2006/relationships/slide" Target="slides/slide1.xml" /><Relationship Id="rId20" Type="http://schemas.openxmlformats.org/officeDocument/2006/relationships/slide" Target="slides/slide19.xml" /><Relationship Id="rId21" Type="http://schemas.openxmlformats.org/officeDocument/2006/relationships/tags" Target="tags/tag1.xml" /><Relationship Id="rId22" Type="http://schemas.openxmlformats.org/officeDocument/2006/relationships/presProps" Target="presProps.xml" /><Relationship Id="rId23" Type="http://schemas.openxmlformats.org/officeDocument/2006/relationships/viewProps" Target="viewProps.xml" /><Relationship Id="rId24" Type="http://schemas.openxmlformats.org/officeDocument/2006/relationships/theme" Target="theme/theme1.xml" /><Relationship Id="rId25" Type="http://schemas.openxmlformats.org/officeDocument/2006/relationships/tableStyles" Target="tableStyles.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s>
</file>

<file path=ppt/slideLayouts/_rels/slideLayout1.xml.rels>&#65279;<?xml version="1.0" encoding="utf-8" standalone="yes"?><Relationships xmlns="http://schemas.openxmlformats.org/package/2006/relationships"><Relationship Id="rId1" Type="http://schemas.openxmlformats.org/officeDocument/2006/relationships/image" Target="../media/image1.jpeg" /><Relationship Id="rId2"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image" Target="../media/image1.jpeg" /><Relationship Id="rId2"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9.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0.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type="title" preserve="1">
  <p:cSld name="Title Slide">
    <p:bg>
      <p:bgRef idx="1002">
        <a:schemeClr val="bg2"/>
      </p:bgRef>
    </p:bg>
    <p:spTree>
      <p:nvGrpSpPr>
        <p:cNvPr id="1" name=""/>
        <p:cNvGrpSpPr/>
        <p:nvPr/>
      </p:nvGrpSpPr>
      <p:grpSpPr>
        <a:xfrm>
          <a:off x="0" y="0"/>
          <a:ext cx="0" cy="0"/>
        </a:xfrm>
      </p:grpSpPr>
      <p:sp>
        <p:nvSpPr>
          <p:cNvPr id="16" name="Rectangle 15"/>
          <p:cNvSpPr/>
          <p:nvPr/>
        </p:nvSpPr>
        <p:spPr>
          <a:xfrm>
            <a:off x="0" y="0"/>
            <a:ext cx="12192000" cy="6858000"/>
          </a:xfrm>
          <a:prstGeom prst="rect">
            <a:avLst/>
          </a:prstGeom>
          <a:blipFill dpi="0" rotWithShape="1">
            <a:blip r:embed="rId1">
              <a:alphaModFix amt="45000"/>
              <a:duotone>
                <a:schemeClr val="accent1">
                  <a:shade val="45000"/>
                  <a:satMod val="135000"/>
                </a:schemeClr>
                <a:prstClr val="white"/>
              </a:duotone>
            </a:blip>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p:txBody>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txBody>
          <a:bodyPr/>
          <a:lstStyle/>
          <a:p/>
        </p:txBody>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txBody>
          <a:bodyPr/>
          <a:lstStyle/>
          <a:p/>
        </p:txBody>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p:txBody>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flipH="1">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H="1">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a:solidFill>
                  <a:schemeClr val="tx1">
                    <a:lumMod val="85000"/>
                    <a:lumOff val="15000"/>
                  </a:schemeClr>
                </a:solidFill>
                <a:effectLst/>
                <a:latin typeface="+mj-lt"/>
                <a:ea typeface="+mn-ea"/>
                <a:cs typeface="+mn-cs"/>
              </a:defRPr>
            </a:lvl1pPr>
          </a:lstStyle>
          <a:p>
            <a:r>
              <a:rPr lang="en-US"/>
              <a:t>Click to edit Master title style</a:t>
            </a:r>
            <a:endParaRPr lang="en-US"/>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ct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EB1402B6-65C2-47F4-BB87-B7F9244CF18B}" type="datetimeFigureOut">
              <a:rPr lang="en-IN" smtClean="0"/>
              <a:t>10-08-2025</a:t>
            </a:fld>
            <a:endParaRPr lang="en-IN"/>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en-IN"/>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99D70A19-7B91-4DF6-8DE1-9EA57A72470F}" type="slidenum">
              <a:rPr lang="en-IN" smtClean="0"/>
              <a:t>‹#›</a:t>
            </a:fld>
            <a:endParaRPr lang="en-IN"/>
          </a:p>
        </p:txBody>
      </p:sp>
    </p:spTree>
    <p:extLst>
      <p:ext uri="{BB962C8B-B14F-4D97-AF65-F5344CB8AC3E}">
        <p14:creationId val="3796390490"/>
      </p:ext>
    </p:extLst>
  </p:cSld>
  <p:clrMapOvr>
    <a:overrideClrMapping bg1="lt1" tx1="dk1" bg2="lt2" tx2="dk2" accent1="accent1" accent2="accent2" accent3="accent3" accent4="accent4" accent5="accent5" accent6="accent6" hlink="hlink" folHlink="folHlink"/>
  </p:clrMapOvr>
  <p:transition/>
  <p:timing/>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 preserve="1">
  <p:cSld name="Title and Content">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7" name="Date Placeholder 6"/>
          <p:cNvSpPr>
            <a:spLocks noGrp="1"/>
          </p:cNvSpPr>
          <p:nvPr>
            <p:ph type="dt" sz="half" idx="10"/>
          </p:nvPr>
        </p:nvSpPr>
        <p:spPr/>
        <p:txBody>
          <a:bodyPr/>
          <a:lstStyle/>
          <a:p>
            <a:fld id="{EB1402B6-65C2-47F4-BB87-B7F9244CF18B}" type="datetimeFigureOut">
              <a:rPr lang="en-IN" smtClean="0"/>
              <a:t>10-08-2025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9D70A19-7B91-4DF6-8DE1-9EA57A72470F}" type="slidenum">
              <a:rPr lang="en-IN" smtClean="0"/>
              <a:t>‹#›</a:t>
            </a:fld>
            <a:endParaRPr lang="en-IN"/>
          </a:p>
        </p:txBody>
      </p:sp>
    </p:spTree>
    <p:extLst>
      <p:ext uri="{BB962C8B-B14F-4D97-AF65-F5344CB8AC3E}">
        <p14:creationId val="2841913128"/>
      </p:ext>
    </p:extLst>
  </p:cSld>
  <p:clrMapOvr>
    <a:masterClrMapping/>
  </p:clrMapOvr>
  <p:transition/>
  <p:timing/>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type="secHead" preserve="1">
  <p:cSld name="Section Header">
    <p:bg>
      <p:bgRef idx="1002">
        <a:schemeClr val="bg2"/>
      </p:bgRef>
    </p:bg>
    <p:spTree>
      <p:nvGrpSpPr>
        <p:cNvPr id="1" name=""/>
        <p:cNvGrpSpPr/>
        <p:nvPr/>
      </p:nvGrpSpPr>
      <p:grpSpPr>
        <a:xfrm>
          <a:off x="0" y="0"/>
          <a:ext cx="0" cy="0"/>
        </a:xfrm>
      </p:grpSpPr>
      <p:sp>
        <p:nvSpPr>
          <p:cNvPr id="22" name="Rectangle 21"/>
          <p:cNvSpPr/>
          <p:nvPr/>
        </p:nvSpPr>
        <p:spPr>
          <a:xfrm>
            <a:off x="0" y="0"/>
            <a:ext cx="12192000" cy="6858000"/>
          </a:xfrm>
          <a:prstGeom prst="rect">
            <a:avLst/>
          </a:prstGeom>
          <a:blipFill dpi="0" rotWithShape="1">
            <a:blip r:embed="rId1">
              <a:alphaModFix amt="45000"/>
              <a:duotone>
                <a:schemeClr val="accent2">
                  <a:shade val="45000"/>
                  <a:satMod val="135000"/>
                </a:schemeClr>
                <a:prstClr val="white"/>
              </a:duotone>
            </a:blip>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p:txBody>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txBody>
          <a:bodyPr/>
          <a:lstStyle/>
          <a:p/>
        </p:txBody>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txBody>
          <a:bodyPr/>
          <a:lstStyle/>
          <a:p/>
        </p:txBody>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p:txBody>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flipH="1">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H="1">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a:solidFill>
                  <a:schemeClr val="tx1">
                    <a:lumMod val="85000"/>
                    <a:lumOff val="15000"/>
                  </a:schemeClr>
                </a:solidFill>
                <a:effectLst/>
                <a:latin typeface="+mj-lt"/>
                <a:ea typeface="+mn-ea"/>
                <a:cs typeface="+mn-cs"/>
              </a:defRPr>
            </a:lvl1pPr>
          </a:lstStyle>
          <a:p>
            <a:r>
              <a:rPr lang="en-US"/>
              <a:t>Click to edit Master title style</a:t>
            </a:r>
            <a:endParaRPr lang="en-US"/>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EB1402B6-65C2-47F4-BB87-B7F9244CF18B}" type="datetimeFigureOut">
              <a:rPr lang="en-IN" smtClean="0"/>
              <a:t>10-08-2025</a:t>
            </a:fld>
            <a:endParaRPr lang="en-IN"/>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en-IN"/>
          </a:p>
        </p:txBody>
      </p:sp>
      <p:sp>
        <p:nvSpPr>
          <p:cNvPr id="6" name="Slide Number Placeholder 5"/>
          <p:cNvSpPr>
            <a:spLocks noGrp="1"/>
          </p:cNvSpPr>
          <p:nvPr>
            <p:ph type="sldNum" sz="quarter" idx="12"/>
          </p:nvPr>
        </p:nvSpPr>
        <p:spPr>
          <a:xfrm>
            <a:off x="8604504" y="5211060"/>
            <a:ext cx="2112264" cy="228600"/>
          </a:xfrm>
        </p:spPr>
        <p:txBody>
          <a:bodyPr/>
          <a:lstStyle/>
          <a:p>
            <a:fld id="{99D70A19-7B91-4DF6-8DE1-9EA57A72470F}" type="slidenum">
              <a:rPr lang="en-IN" smtClean="0"/>
              <a:t>‹#›</a:t>
            </a:fld>
            <a:endParaRPr lang="en-IN"/>
          </a:p>
        </p:txBody>
      </p:sp>
    </p:spTree>
    <p:extLst>
      <p:ext uri="{BB962C8B-B14F-4D97-AF65-F5344CB8AC3E}">
        <p14:creationId val="3142773662"/>
      </p:ext>
    </p:extLst>
  </p:cSld>
  <p:clrMapOvr>
    <a:overrideClrMapping bg1="lt1" tx1="dk1" bg2="lt2" tx2="dk2" accent1="accent1" accent2="accent2" accent3="accent3" accent4="accent4" accent5="accent5" accent6="accent6" hlink="hlink" folHlink="folHlink"/>
  </p:clrMapOvr>
  <p:transition/>
  <p:timing/>
</p:sldLayout>
</file>

<file path=ppt/slideLayouts/slideLayout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Obj" preserve="1">
  <p:cSld name="Two Content">
    <p:spTree>
      <p:nvGrpSpPr>
        <p:cNvPr id="1" name=""/>
        <p:cNvGrpSpPr/>
        <p:nvPr/>
      </p:nvGrpSpPr>
      <p:grpSpPr>
        <a:xfrm>
          <a:off x="0" y="0"/>
          <a:ext cx="0" cy="0"/>
        </a:xfrm>
      </p:grpSpPr>
      <p:sp>
        <p:nvSpPr>
          <p:cNvPr id="8" name="Title 7"/>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5" name="Date Placeholder 4"/>
          <p:cNvSpPr>
            <a:spLocks noGrp="1"/>
          </p:cNvSpPr>
          <p:nvPr>
            <p:ph type="dt" sz="half" idx="10"/>
          </p:nvPr>
        </p:nvSpPr>
        <p:spPr/>
        <p:txBody>
          <a:bodyPr/>
          <a:lstStyle/>
          <a:p>
            <a:fld id="{EB1402B6-65C2-47F4-BB87-B7F9244CF18B}" type="datetimeFigureOut">
              <a:rPr lang="en-IN" smtClean="0"/>
              <a:t>10-08-2025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D70A19-7B91-4DF6-8DE1-9EA57A72470F}" type="slidenum">
              <a:rPr lang="en-IN" smtClean="0"/>
              <a:t>‹#›</a:t>
            </a:fld>
            <a:endParaRPr lang="en-IN"/>
          </a:p>
        </p:txBody>
      </p:sp>
    </p:spTree>
    <p:extLst>
      <p:ext uri="{BB962C8B-B14F-4D97-AF65-F5344CB8AC3E}">
        <p14:creationId val="4278297760"/>
      </p:ext>
    </p:extLst>
  </p:cSld>
  <p:clrMapOvr>
    <a:masterClrMapping/>
  </p:clrMapOvr>
  <p:transition/>
  <p:timing/>
</p:sldLayout>
</file>

<file path=ppt/slideLayouts/slideLayout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TxTwoObj" preserve="1">
  <p:cSld name="Comparison">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ct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ct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7" name="Date Placeholder 6"/>
          <p:cNvSpPr>
            <a:spLocks noGrp="1"/>
          </p:cNvSpPr>
          <p:nvPr>
            <p:ph type="dt" sz="half" idx="10"/>
          </p:nvPr>
        </p:nvSpPr>
        <p:spPr/>
        <p:txBody>
          <a:bodyPr/>
          <a:lstStyle/>
          <a:p>
            <a:fld id="{EB1402B6-65C2-47F4-BB87-B7F9244CF18B}" type="datetimeFigureOut">
              <a:rPr lang="en-IN" smtClean="0"/>
              <a:t>10-08-2025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9D70A19-7B91-4DF6-8DE1-9EA57A72470F}" type="slidenum">
              <a:rPr lang="en-IN" smtClean="0"/>
              <a:t>‹#›</a:t>
            </a:fld>
            <a:endParaRPr lang="en-IN"/>
          </a:p>
        </p:txBody>
      </p:sp>
    </p:spTree>
    <p:extLst>
      <p:ext uri="{BB962C8B-B14F-4D97-AF65-F5344CB8AC3E}">
        <p14:creationId val="4211552387"/>
      </p:ext>
    </p:extLst>
  </p:cSld>
  <p:clrMapOvr>
    <a:masterClrMapping/>
  </p:clrMapOvr>
  <p:transition/>
  <p:timing/>
</p:sldLayout>
</file>

<file path=ppt/slideLayouts/slideLayout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Only" preserve="1">
  <p:cSld name="Title Only">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EB1402B6-65C2-47F4-BB87-B7F9244CF18B}" type="datetimeFigureOut">
              <a:rPr lang="en-IN" smtClean="0"/>
              <a:t>10-08-2025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9D70A19-7B91-4DF6-8DE1-9EA57A72470F}" type="slidenum">
              <a:rPr lang="en-IN" smtClean="0"/>
              <a:t>‹#›</a:t>
            </a:fld>
            <a:endParaRPr lang="en-IN"/>
          </a:p>
        </p:txBody>
      </p:sp>
    </p:spTree>
    <p:extLst>
      <p:ext uri="{BB962C8B-B14F-4D97-AF65-F5344CB8AC3E}">
        <p14:creationId val="1278373287"/>
      </p:ext>
    </p:extLst>
  </p:cSld>
  <p:clrMapOvr>
    <a:masterClrMapping/>
  </p:clrMapOvr>
  <p:transition/>
  <p:timing/>
</p:sldLayout>
</file>

<file path=ppt/slideLayouts/slideLayout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blank" preserve="1">
  <p:cSld name="Blank">
    <p:spTree>
      <p:nvGrpSpPr>
        <p:cNvPr id="1" name=""/>
        <p:cNvGrpSpPr/>
        <p:nvPr/>
      </p:nvGrpSpPr>
      <p:grpSpPr>
        <a:xfrm>
          <a:off x="0" y="0"/>
          <a:ext cx="0" cy="0"/>
        </a:xfrm>
      </p:grpSpPr>
      <p:sp>
        <p:nvSpPr>
          <p:cNvPr id="2" name="Date Placeholder 1"/>
          <p:cNvSpPr>
            <a:spLocks noGrp="1"/>
          </p:cNvSpPr>
          <p:nvPr>
            <p:ph type="dt" sz="half" idx="10"/>
          </p:nvPr>
        </p:nvSpPr>
        <p:spPr/>
        <p:txBody>
          <a:bodyPr/>
          <a:lstStyle/>
          <a:p>
            <a:fld id="{EB1402B6-65C2-47F4-BB87-B7F9244CF18B}" type="datetimeFigureOut">
              <a:rPr lang="en-IN" smtClean="0"/>
              <a:t>10-08-2025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9D70A19-7B91-4DF6-8DE1-9EA57A72470F}" type="slidenum">
              <a:rPr lang="en-IN" smtClean="0"/>
              <a:t>‹#›</a:t>
            </a:fld>
            <a:endParaRPr lang="en-IN"/>
          </a:p>
        </p:txBody>
      </p:sp>
    </p:spTree>
    <p:extLst>
      <p:ext uri="{BB962C8B-B14F-4D97-AF65-F5344CB8AC3E}">
        <p14:creationId val="3907725143"/>
      </p:ext>
    </p:extLst>
  </p:cSld>
  <p:clrMapOvr>
    <a:masterClrMapping/>
  </p:clrMapOvr>
  <p:transition/>
  <p:timing/>
</p:sldLayout>
</file>

<file path=ppt/slideLayouts/slideLayout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type="objTx" preserve="1">
  <p:cSld name="Content with Caption">
    <p:spTree>
      <p:nvGrpSpPr>
        <p:cNvPr id="1" name=""/>
        <p:cNvGrpSpPr/>
        <p:nvPr/>
      </p:nvGrpSpPr>
      <p:grpSpPr>
        <a:xfrm>
          <a:off x="0" y="0"/>
          <a: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p:txBody>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p:txBody>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a:solidFill>
                  <a:srgbClr val="FFFFFF"/>
                </a:solidFill>
                <a:effectLst/>
                <a:latin typeface="+mj-lt"/>
                <a:ea typeface="+mn-ea"/>
                <a:cs typeface="+mn-cs"/>
              </a:defRPr>
            </a:lvl1pPr>
          </a:lstStyle>
          <a:p>
            <a:r>
              <a:rPr lang="en-US"/>
              <a:t>Click to edit Master title style</a:t>
            </a:r>
            <a:endParaRPr lang="en-US"/>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EB1402B6-65C2-47F4-BB87-B7F9244CF18B}" type="datetimeFigureOut">
              <a:rPr lang="en-IN" smtClean="0"/>
              <a:t>10-08-2025</a:t>
            </a:fld>
            <a:endParaRPr lang="en-IN"/>
          </a:p>
        </p:txBody>
      </p:sp>
      <p:sp>
        <p:nvSpPr>
          <p:cNvPr id="9" name="Footer Placeholder 8"/>
          <p:cNvSpPr>
            <a:spLocks noGrp="1"/>
          </p:cNvSpPr>
          <p:nvPr>
            <p:ph type="ftr" sz="quarter" idx="11"/>
          </p:nvPr>
        </p:nvSpPr>
        <p:spPr/>
        <p:txBody>
          <a:bodyPr/>
          <a:lstStyle>
            <a:lvl1pPr algn="r">
              <a:defRPr/>
            </a:lvl1pPr>
          </a:lstStyle>
          <a:p>
            <a:endParaRPr lang="en-IN"/>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99D70A19-7B91-4DF6-8DE1-9EA57A72470F}" type="slidenum">
              <a:rPr lang="en-IN" smtClean="0"/>
              <a:t>‹#›</a:t>
            </a:fld>
            <a:endParaRPr lang="en-IN"/>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a:lstStyle/>
          <a:p/>
        </p:txBody>
      </p:sp>
    </p:spTree>
    <p:extLst>
      <p:ext uri="{BB962C8B-B14F-4D97-AF65-F5344CB8AC3E}">
        <p14:creationId val="3533867751"/>
      </p:ext>
    </p:extLst>
  </p:cSld>
  <p:clrMapOvr>
    <a:masterClrMapping/>
  </p:clrMapOvr>
  <p:transition/>
  <p:timing/>
</p:sldLayout>
</file>

<file path=ppt/slideLayouts/slideLayout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type="picTx" preserve="1">
  <p:cSld name="Picture with Caption">
    <p:spTree>
      <p:nvGrpSpPr>
        <p:cNvPr id="1" name=""/>
        <p:cNvGrpSpPr/>
        <p:nvPr/>
      </p:nvGrpSpPr>
      <p:grpSpPr>
        <a:xfrm>
          <a:off x="0" y="0"/>
          <a: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p:txBody>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a:t>Click to edit Master title style</a:t>
            </a:r>
            <a:endParaRPr lang="en-US"/>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EB1402B6-65C2-47F4-BB87-B7F9244CF18B}" type="datetimeFigureOut">
              <a:rPr lang="en-IN" smtClean="0"/>
              <a:t>10-08-2025</a:t>
            </a:fld>
            <a:endParaRPr lang="en-IN"/>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IN"/>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99D70A19-7B91-4DF6-8DE1-9EA57A72470F}" type="slidenum">
              <a:rPr lang="en-IN" smtClean="0"/>
              <a:t>‹#›</a:t>
            </a:fld>
            <a:endParaRPr lang="en-IN"/>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a:lstStyle/>
          <a:p/>
        </p:txBody>
      </p:sp>
    </p:spTree>
    <p:extLst>
      <p:ext uri="{BB962C8B-B14F-4D97-AF65-F5344CB8AC3E}">
        <p14:creationId val="1961708973"/>
      </p:ext>
    </p:extLst>
  </p:cSld>
  <p:clrMapOvr>
    <a:masterClrMapping/>
  </p:clrMapOvr>
  <p:transition/>
  <p:timing/>
</p:sldLayout>
</file>

<file path=ppt/slideLayouts/slideLayout1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x" preserve="1">
  <p:cSld name="Title and Vertical Text">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4" name="Date Placeholder 3"/>
          <p:cNvSpPr>
            <a:spLocks noGrp="1"/>
          </p:cNvSpPr>
          <p:nvPr>
            <p:ph type="dt" sz="half" idx="10"/>
          </p:nvPr>
        </p:nvSpPr>
        <p:spPr/>
        <p:txBody>
          <a:bodyPr/>
          <a:lstStyle/>
          <a:p>
            <a:fld id="{EB1402B6-65C2-47F4-BB87-B7F9244CF18B}" type="datetimeFigureOut">
              <a:rPr lang="en-IN" smtClean="0"/>
              <a:t>10-08-2025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D70A19-7B91-4DF6-8DE1-9EA57A72470F}" type="slidenum">
              <a:rPr lang="en-IN" smtClean="0"/>
              <a:t>‹#›</a:t>
            </a:fld>
            <a:endParaRPr lang="en-IN"/>
          </a:p>
        </p:txBody>
      </p:sp>
    </p:spTree>
    <p:extLst>
      <p:ext uri="{BB962C8B-B14F-4D97-AF65-F5344CB8AC3E}">
        <p14:creationId val="15060589"/>
      </p:ext>
    </p:extLst>
  </p:cSld>
  <p:clrMapOvr>
    <a:masterClrMapping/>
  </p:clrMapOvr>
  <p:transition/>
  <p:timing/>
</p:sldLayout>
</file>

<file path=ppt/slideLayouts/slideLayout1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itleAndTx" preserve="1">
  <p:cSld name="Vertical Title and Text">
    <p:spTree>
      <p:nvGrpSpPr>
        <p:cNvPr id="1" name=""/>
        <p:cNvGrpSpPr/>
        <p:nvPr/>
      </p:nvGrpSpPr>
      <p:grpSpPr>
        <a:xfrm>
          <a:off x="0" y="0"/>
          <a: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4" name="Date Placeholder 3"/>
          <p:cNvSpPr>
            <a:spLocks noGrp="1"/>
          </p:cNvSpPr>
          <p:nvPr>
            <p:ph type="dt" sz="half" idx="10"/>
          </p:nvPr>
        </p:nvSpPr>
        <p:spPr/>
        <p:txBody>
          <a:bodyPr/>
          <a:lstStyle/>
          <a:p>
            <a:fld id="{EB1402B6-65C2-47F4-BB87-B7F9244CF18B}" type="datetimeFigureOut">
              <a:rPr lang="en-IN" smtClean="0"/>
              <a:t>10-08-2025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D70A19-7B91-4DF6-8DE1-9EA57A72470F}" type="slidenum">
              <a:rPr lang="en-IN" smtClean="0"/>
              <a:t>‹#›</a:t>
            </a:fld>
            <a:endParaRPr lang="en-IN"/>
          </a:p>
        </p:txBody>
      </p:sp>
    </p:spTree>
    <p:extLst>
      <p:ext uri="{BB962C8B-B14F-4D97-AF65-F5344CB8AC3E}">
        <p14:creationId val="2588816016"/>
      </p:ext>
    </p:extLst>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heme" Target="../theme/theme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Pr>
        <a:solidFill>
          <a:schemeClr val="bg1"/>
        </a:solidFill>
        <a:effectLst/>
      </p:bgPr>
    </p:bg>
    <p:spTree>
      <p:nvGrpSpPr>
        <p:cNvPr id="1" name=""/>
        <p:cNvGrpSpPr/>
        <p:nvPr/>
      </p:nvGrpSpPr>
      <p:grpSpPr>
        <a:xfrm>
          <a:off x="0" y="0"/>
          <a: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txBody>
          <a:bodyPr/>
          <a:lstStyle/>
          <a:p/>
        </p:txBody>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EB1402B6-65C2-47F4-BB87-B7F9244CF18B}" type="datetimeFigureOut">
              <a:rPr lang="en-IN" smtClean="0"/>
              <a:t>10-08-2025</a:t>
            </a:fld>
            <a:endParaRPr lang="en-IN"/>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IN"/>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99D70A19-7B91-4DF6-8DE1-9EA57A72470F}" type="slidenum">
              <a:rPr lang="en-IN" smtClean="0"/>
              <a:t>‹#›</a:t>
            </a:fld>
            <a:endParaRPr lang="en-IN"/>
          </a:p>
        </p:txBody>
      </p:sp>
    </p:spTree>
    <p:extLst>
      <p:ext uri="{BB962C8B-B14F-4D97-AF65-F5344CB8AC3E}">
        <p14:creationId val="3623883753"/>
      </p:ext>
    </p:extLst>
  </p:cSld>
  <p:clrMap bg1="lt1" tx1="dk1" bg2="lt2" tx2="dk2" accent1="accent1" accent2="accent2" accent3="accent3" accent4="accent4" accent5="accent5" accent6="accent6" hlink="hlink" folHlink="folHlink"/>
  <p:sldLayoutIdLst>
    <p:sldLayoutId id="2147483929" r:id="rId1"/>
    <p:sldLayoutId id="2147483930" r:id="rId2"/>
    <p:sldLayoutId id="2147483931" r:id="rId3"/>
    <p:sldLayoutId id="2147483932" r:id="rId4"/>
    <p:sldLayoutId id="2147483933" r:id="rId5"/>
    <p:sldLayoutId id="2147483934" r:id="rId6"/>
    <p:sldLayoutId id="2147483935" r:id="rId7"/>
    <p:sldLayoutId id="2147483936" r:id="rId8"/>
    <p:sldLayoutId id="2147483937" r:id="rId9"/>
    <p:sldLayoutId id="2147483938" r:id="rId10"/>
    <p:sldLayoutId id="2147483939" r:id="rId11"/>
  </p:sldLayoutIdLst>
  <p:transition/>
  <p:timing/>
  <p:txStyles>
    <p:titleStyle>
      <a:lvl1pPr algn="l" defTabSz="914400" rtl="0" eaLnBrk="1" latinLnBrk="0" hangingPunct="1">
        <a:lnSpc>
          <a:spcPct val="90000"/>
        </a:lnSpc>
        <a:spcBef>
          <a:spcPct val="0"/>
        </a:spcBef>
        <a:buNone/>
        <a:defRPr lang="en-US" sz="4800" kern="1200" cap="none" spc="0" baseline="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ct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jpeg"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4.jpeg" /></Relationships>
</file>

<file path=ppt/slides/_rels/slide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5.jpeg" /></Relationships>
</file>

<file path=ppt/slides/_rels/slide1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jpeg" /></Relationships>
</file>

<file path=ppt/slides/_rels/slide1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7.jpeg" /></Relationships>
</file>

<file path=ppt/slides/_rels/slide1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8.jpeg" /></Relationships>
</file>

<file path=ppt/slides/_rels/slide1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9.jpeg" /></Relationships>
</file>

<file path=ppt/slides/_rels/slide1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10.jpeg" /></Relationships>
</file>

<file path=ppt/slides/_rels/slide1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11.jpeg" /></Relationships>
</file>

<file path=ppt/slides/_rels/slide1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12.jpeg" /></Relationships>
</file>

<file path=ppt/slides/_rels/slide1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13.jpeg" /></Relationships>
</file>

<file path=ppt/slides/_rels/slide1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FFFFF"/>
        </a:solidFill>
        <a:effectLst/>
      </p:bgPr>
    </p:bg>
    <p:spTree>
      <p:nvGrpSpPr>
        <p:cNvPr id="1" name=""/>
        <p:cNvGrpSpPr/>
        <p:nvPr/>
      </p:nvGrpSpPr>
      <p:grpSpPr>
        <a:xfrm>
          <a:off x="0" y="0"/>
          <a:ext cx="0" cy="0"/>
        </a:xfrm>
      </p:grpSpPr>
      <p:sp>
        <p:nvSpPr>
          <p:cNvPr id="14" name="TextBox 1" title=""/>
          <p:cNvSpPr/>
          <p:nvPr/>
        </p:nvSpPr>
        <p:spPr>
          <a:xfrm>
            <a:off x="142170" y="657819"/>
            <a:ext cx="3777401" cy="1015663"/>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lstStyle/>
          <a:p>
            <a:pPr marL="0" marR="0" indent="0" algn="ctr" fontAlgn="auto">
              <a:lnSpc>
                <a:spcPct val="100000"/>
              </a:lnSpc>
              <a:spcBef>
                <a:spcPct val="0"/>
              </a:spcBef>
              <a:spcAft>
                <a:spcPct val="0"/>
              </a:spcAft>
            </a:pPr>
            <a:r>
              <a:rPr sz="6000" spc="0" baseline="0">
                <a:solidFill>
                  <a:srgbClr val="000000"/>
                </a:solidFill>
                <a:latin typeface="Algerian"/>
              </a:rPr>
              <a:t>TOPIC</a:t>
            </a:r>
            <a:r>
              <a:rPr sz="6000" spc="0" baseline="0">
                <a:solidFill>
                  <a:srgbClr val="000000"/>
                </a:solidFill>
                <a:latin typeface="&quot;Century Gothic&quot;"/>
              </a:rPr>
              <a:t> :</a:t>
            </a:r>
          </a:p>
        </p:txBody>
      </p:sp>
      <p:sp>
        <p:nvSpPr>
          <p:cNvPr id="15" name="TextBox 2" title=""/>
          <p:cNvSpPr/>
          <p:nvPr/>
        </p:nvSpPr>
        <p:spPr>
          <a:xfrm>
            <a:off x="2004139" y="685870"/>
            <a:ext cx="8423236" cy="1015663"/>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lstStyle/>
          <a:p>
            <a:pPr marL="0" marR="0" indent="0" algn="ctr" fontAlgn="auto">
              <a:lnSpc>
                <a:spcPct val="100000"/>
              </a:lnSpc>
              <a:spcBef>
                <a:spcPct val="0"/>
              </a:spcBef>
              <a:spcAft>
                <a:spcPct val="0"/>
              </a:spcAft>
            </a:pPr>
            <a:r>
              <a:rPr sz="6000" spc="0" baseline="0">
                <a:solidFill>
                  <a:srgbClr val="000000"/>
                </a:solidFill>
                <a:latin typeface="Algerian"/>
              </a:rPr>
              <a:t>TRAFFIC LIGHT </a:t>
            </a:r>
          </a:p>
        </p:txBody>
      </p:sp>
      <p:sp>
        <p:nvSpPr>
          <p:cNvPr id="16" name="TextBox 3" title=""/>
          <p:cNvSpPr/>
          <p:nvPr/>
        </p:nvSpPr>
        <p:spPr>
          <a:xfrm>
            <a:off x="1244485" y="1565760"/>
            <a:ext cx="9634601" cy="1015663"/>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lstStyle/>
          <a:p>
            <a:pPr marL="0" marR="0" indent="0" algn="ctr" fontAlgn="auto">
              <a:lnSpc>
                <a:spcPct val="100000"/>
              </a:lnSpc>
              <a:spcBef>
                <a:spcPct val="0"/>
              </a:spcBef>
              <a:spcAft>
                <a:spcPct val="0"/>
              </a:spcAft>
            </a:pPr>
            <a:r>
              <a:rPr sz="6000" spc="0" baseline="0">
                <a:solidFill>
                  <a:srgbClr val="000000"/>
                </a:solidFill>
                <a:latin typeface="Algerian"/>
              </a:rPr>
              <a:t>CONTROLLER</a:t>
            </a:r>
          </a:p>
        </p:txBody>
      </p:sp>
      <p:sp>
        <p:nvSpPr>
          <p:cNvPr id="17" name="TextBox 9" title=""/>
          <p:cNvSpPr/>
          <p:nvPr/>
        </p:nvSpPr>
        <p:spPr>
          <a:xfrm>
            <a:off x="7625184" y="4795545"/>
            <a:ext cx="6507804" cy="369332"/>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lstStyle/>
          <a:p>
            <a:pPr marL="0" marR="0" indent="0" algn="l" fontAlgn="auto">
              <a:lnSpc>
                <a:spcPct val="100000"/>
              </a:lnSpc>
              <a:spcBef>
                <a:spcPct val="0"/>
              </a:spcBef>
              <a:spcAft>
                <a:spcPct val="0"/>
              </a:spcAft>
            </a:pPr>
            <a:r>
              <a:rPr sz="1800" spc="0" baseline="0">
                <a:solidFill>
                  <a:srgbClr val="000000"/>
                </a:solidFill>
                <a:latin typeface="&quot;Century Gothic&quot;"/>
              </a:rPr>
              <a:t>          BY : Dhananjay Singh</a:t>
            </a:r>
          </a:p>
          <a:p>
            <a:pPr marL="0" marR="0" indent="0" algn="l" fontAlgn="auto">
              <a:lnSpc>
                <a:spcPct val="100000"/>
              </a:lnSpc>
              <a:spcBef>
                <a:spcPct val="0"/>
              </a:spcBef>
              <a:spcAft>
                <a:spcPct val="0"/>
              </a:spcAft>
            </a:pPr>
          </a:p>
        </p:txBody>
      </p:sp>
      <p:sp>
        <p:nvSpPr>
          <p:cNvPr id="18" name="TextBox 12" title=""/>
          <p:cNvSpPr/>
          <p:nvPr/>
        </p:nvSpPr>
        <p:spPr>
          <a:xfrm>
            <a:off x="3919571" y="2626655"/>
            <a:ext cx="6507804" cy="707886"/>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lstStyle/>
          <a:p>
            <a:pPr marL="0" marR="0" indent="0" algn="l" fontAlgn="auto">
              <a:lnSpc>
                <a:spcPct val="100000"/>
              </a:lnSpc>
              <a:spcBef>
                <a:spcPct val="0"/>
              </a:spcBef>
              <a:spcAft>
                <a:spcPct val="0"/>
              </a:spcAft>
            </a:pPr>
            <a:r>
              <a:rPr sz="4000" spc="0" baseline="0">
                <a:solidFill>
                  <a:srgbClr val="000000"/>
                </a:solidFill>
                <a:latin typeface="Algerian"/>
              </a:rPr>
              <a:t>Using Verilog</a:t>
            </a:r>
          </a:p>
        </p:txBody>
      </p:sp>
    </p:spTree>
    <p:extLst>
      <p:ext uri="{BB962C8B-B14F-4D97-AF65-F5344CB8AC3E}">
        <p14:creationId val="2811841256"/>
      </p:ext>
    </p:extLst>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a:extLst>
              <a:ext uri="{FF2B5EF4-FFF2-40B4-BE49-F238E27FC236}">
                <a16:creationId xmlns:a16="http://schemas.microsoft.com/office/drawing/2014/main" id="{FB4E2170-43EC-DDB5-F6DF-99A45ED9AF08}"/>
              </a:ext>
            </a:extLst>
          </p:cNvPr>
          <p:cNvSpPr txBox="1"/>
          <p:nvPr/>
        </p:nvSpPr>
        <p:spPr>
          <a:xfrm>
            <a:off x="0" y="85435"/>
            <a:ext cx="12192000" cy="1015663"/>
          </a:xfrm>
          <a:prstGeom prst="rect">
            <a:avLst/>
          </a:prstGeom>
          <a:noFill/>
          <a:ln w="28575">
            <a:solidFill>
              <a:srgbClr val="FFFFFF"/>
            </a:solidFill>
            <a:prstDash val="solid"/>
            <a:extLst>
              <a:ext uri="{C807C97D-BFC1-408E-A445-0C87EB9F89A2}">
                <ask:lineSketchStyleProps xmlns:ask="http://schemas.microsoft.com/office/drawing/2018/sketchyshapes">
                  <ask:type>
                    <ask:lineSketchNone/>
                  </ask:type>
                </ask:lineSketchStyleProps>
              </a:ext>
            </a:extLst>
          </a:ln>
        </p:spPr>
        <p:txBody>
          <a:bodyPr wrap="square" rtlCol="0">
            <a:spAutoFit/>
          </a:bodyPr>
          <a:lstStyle/>
          <a:p>
            <a:pPr algn="ctr"/>
            <a:r>
              <a:rPr lang="en-IN" sz="6000">
                <a:ln w="28575">
                  <a:solidFill>
                    <a:schemeClr val="tx1"/>
                  </a:solidFill>
                  <a:prstDash val="solid"/>
                </a:ln>
              </a:rPr>
              <a:t>CONTENTS</a:t>
            </a:r>
          </a:p>
        </p:txBody>
      </p:sp>
      <p:sp>
        <p:nvSpPr>
          <p:cNvPr id="4" name="TextBox 3">
            <a:extLst>
              <a:ext uri="{FF2B5EF4-FFF2-40B4-BE49-F238E27FC236}">
                <a16:creationId xmlns:a16="http://schemas.microsoft.com/office/drawing/2014/main" id="{65AB9BF0-2621-0F3F-76B2-20C87AA25AA5}"/>
              </a:ext>
            </a:extLst>
          </p:cNvPr>
          <p:cNvSpPr txBox="1"/>
          <p:nvPr/>
        </p:nvSpPr>
        <p:spPr>
          <a:xfrm>
            <a:off x="632297" y="1439315"/>
            <a:ext cx="3618689" cy="461665"/>
          </a:xfrm>
          <a:prstGeom prst="rect">
            <a:avLst/>
          </a:prstGeom>
          <a:noFill/>
        </p:spPr>
        <p:txBody>
          <a:bodyPr wrap="square" rtlCol="0">
            <a:spAutoFit/>
          </a:bodyPr>
          <a:lstStyle/>
          <a:p>
            <a:pPr marL="285750" indent="-285750">
              <a:buFont typeface="Wingdings" panose="05000000000000000000" pitchFamily="2" charset="2"/>
              <a:buChar char="q"/>
            </a:pPr>
            <a:r>
              <a:rPr lang="en-IN" sz="2400"/>
              <a:t>INTODUCTION</a:t>
            </a:r>
          </a:p>
        </p:txBody>
      </p:sp>
      <p:sp>
        <p:nvSpPr>
          <p:cNvPr id="5" name="TextBox 4">
            <a:extLst>
              <a:ext uri="{FF2B5EF4-FFF2-40B4-BE49-F238E27FC236}">
                <a16:creationId xmlns:a16="http://schemas.microsoft.com/office/drawing/2014/main" id="{05603689-F642-08C6-B95B-2DA13EA547C7}"/>
              </a:ext>
            </a:extLst>
          </p:cNvPr>
          <p:cNvSpPr txBox="1"/>
          <p:nvPr/>
        </p:nvSpPr>
        <p:spPr>
          <a:xfrm>
            <a:off x="773350" y="1997657"/>
            <a:ext cx="2130357" cy="646331"/>
          </a:xfrm>
          <a:prstGeom prst="rect">
            <a:avLst/>
          </a:prstGeom>
          <a:noFill/>
        </p:spPr>
        <p:txBody>
          <a:bodyPr wrap="square" rtlCol="0">
            <a:spAutoFit/>
          </a:bodyPr>
          <a:lstStyle/>
          <a:p>
            <a:pPr marL="285750" indent="-285750">
              <a:buFont typeface="Wingdings" panose="05000000000000000000" pitchFamily="2" charset="2"/>
              <a:buChar char="Ø"/>
            </a:pPr>
            <a:r>
              <a:rPr lang="en-IN"/>
              <a:t>TRAFFIC LIGHT </a:t>
            </a:r>
          </a:p>
          <a:p>
            <a:pPr marL="285750" indent="-285750">
              <a:buFont typeface="Wingdings" panose="05000000000000000000" pitchFamily="2" charset="2"/>
              <a:buChar char="Ø"/>
            </a:pPr>
            <a:r>
              <a:rPr lang="en-IN"/>
              <a:t>HISTORY</a:t>
            </a:r>
          </a:p>
        </p:txBody>
      </p:sp>
      <p:sp>
        <p:nvSpPr>
          <p:cNvPr id="6" name="TextBox 5">
            <a:extLst>
              <a:ext uri="{FF2B5EF4-FFF2-40B4-BE49-F238E27FC236}">
                <a16:creationId xmlns:a16="http://schemas.microsoft.com/office/drawing/2014/main" id="{8DE2CB6C-0A9C-DD42-AE48-DE895ADB6AC4}"/>
              </a:ext>
            </a:extLst>
          </p:cNvPr>
          <p:cNvSpPr txBox="1"/>
          <p:nvPr/>
        </p:nvSpPr>
        <p:spPr>
          <a:xfrm>
            <a:off x="632297" y="2845661"/>
            <a:ext cx="2480553" cy="461665"/>
          </a:xfrm>
          <a:prstGeom prst="rect">
            <a:avLst/>
          </a:prstGeom>
          <a:noFill/>
        </p:spPr>
        <p:txBody>
          <a:bodyPr wrap="square" rtlCol="0">
            <a:spAutoFit/>
          </a:bodyPr>
          <a:lstStyle/>
          <a:p>
            <a:pPr marL="285750" indent="-285750">
              <a:buFont typeface="Wingdings" panose="05000000000000000000" pitchFamily="2" charset="2"/>
              <a:buChar char="q"/>
            </a:pPr>
            <a:r>
              <a:rPr lang="en-IN" sz="2400"/>
              <a:t>VERILOG</a:t>
            </a:r>
          </a:p>
        </p:txBody>
      </p:sp>
      <p:sp>
        <p:nvSpPr>
          <p:cNvPr id="7" name="TextBox 6">
            <a:extLst>
              <a:ext uri="{FF2B5EF4-FFF2-40B4-BE49-F238E27FC236}">
                <a16:creationId xmlns:a16="http://schemas.microsoft.com/office/drawing/2014/main" id="{9F762447-F6C8-5770-3CCB-E3616EDE39B8}"/>
              </a:ext>
            </a:extLst>
          </p:cNvPr>
          <p:cNvSpPr txBox="1"/>
          <p:nvPr/>
        </p:nvSpPr>
        <p:spPr>
          <a:xfrm>
            <a:off x="607981" y="3386997"/>
            <a:ext cx="4834648" cy="461665"/>
          </a:xfrm>
          <a:prstGeom prst="rect">
            <a:avLst/>
          </a:prstGeom>
          <a:noFill/>
        </p:spPr>
        <p:txBody>
          <a:bodyPr wrap="square" rtlCol="0">
            <a:spAutoFit/>
          </a:bodyPr>
          <a:lstStyle/>
          <a:p>
            <a:pPr marL="285750" indent="-285750">
              <a:buFont typeface="Wingdings" panose="05000000000000000000" pitchFamily="2" charset="2"/>
              <a:buChar char="q"/>
            </a:pPr>
            <a:r>
              <a:rPr lang="en-IN" sz="2400"/>
              <a:t>TRAFFIC LIGHT CONTROLLER</a:t>
            </a:r>
          </a:p>
        </p:txBody>
      </p:sp>
      <p:sp>
        <p:nvSpPr>
          <p:cNvPr id="9" name="TextBox 8">
            <a:extLst>
              <a:ext uri="{FF2B5EF4-FFF2-40B4-BE49-F238E27FC236}">
                <a16:creationId xmlns:a16="http://schemas.microsoft.com/office/drawing/2014/main" id="{D53419B1-EBBD-6925-701C-C2B0746E043B}"/>
              </a:ext>
            </a:extLst>
          </p:cNvPr>
          <p:cNvSpPr txBox="1"/>
          <p:nvPr/>
        </p:nvSpPr>
        <p:spPr>
          <a:xfrm>
            <a:off x="809829" y="4008004"/>
            <a:ext cx="4187756" cy="1754326"/>
          </a:xfrm>
          <a:prstGeom prst="rect">
            <a:avLst/>
          </a:prstGeom>
          <a:noFill/>
        </p:spPr>
        <p:txBody>
          <a:bodyPr wrap="square" rtlCol="0">
            <a:spAutoFit/>
          </a:bodyPr>
          <a:lstStyle/>
          <a:p>
            <a:pPr marL="285750" indent="-285750">
              <a:buFont typeface="Wingdings" panose="05000000000000000000" pitchFamily="2" charset="2"/>
              <a:buChar char="Ø"/>
            </a:pPr>
            <a:r>
              <a:rPr lang="en-IN"/>
              <a:t>OUR TRAFFIC LIGHT</a:t>
            </a:r>
          </a:p>
          <a:p>
            <a:pPr marL="285750" indent="-285750">
              <a:buFont typeface="Wingdings" panose="05000000000000000000" pitchFamily="2" charset="2"/>
              <a:buChar char="Ø"/>
            </a:pPr>
            <a:r>
              <a:rPr lang="en-IN"/>
              <a:t>STATE DIAGRAM</a:t>
            </a:r>
          </a:p>
          <a:p>
            <a:pPr marL="285750" indent="-285750">
              <a:buFont typeface="Wingdings" panose="05000000000000000000" pitchFamily="2" charset="2"/>
              <a:buChar char="Ø"/>
            </a:pPr>
            <a:r>
              <a:rPr lang="en-IN"/>
              <a:t>STATE TABLE </a:t>
            </a:r>
          </a:p>
          <a:p>
            <a:pPr marL="285750" indent="-285750">
              <a:buFont typeface="Wingdings" panose="05000000000000000000" pitchFamily="2" charset="2"/>
              <a:buChar char="Ø"/>
            </a:pPr>
            <a:r>
              <a:rPr lang="en-IN"/>
              <a:t> VERILOG CODE </a:t>
            </a:r>
          </a:p>
          <a:p>
            <a:pPr marL="285750" indent="-285750">
              <a:buFont typeface="Wingdings" panose="05000000000000000000" pitchFamily="2" charset="2"/>
              <a:buChar char="Ø"/>
            </a:pPr>
            <a:r>
              <a:rPr lang="en-IN"/>
              <a:t>SIMULATION RESULT</a:t>
            </a:r>
          </a:p>
          <a:p>
            <a:pPr marL="285750" indent="-285750">
              <a:buFont typeface="Wingdings" panose="05000000000000000000" pitchFamily="2" charset="2"/>
              <a:buChar char="§"/>
            </a:pPr>
            <a:endParaRPr lang="en-IN"/>
          </a:p>
        </p:txBody>
      </p:sp>
      <p:sp>
        <p:nvSpPr>
          <p:cNvPr id="11" name="TextBox 10">
            <a:extLst>
              <a:ext uri="{FF2B5EF4-FFF2-40B4-BE49-F238E27FC236}">
                <a16:creationId xmlns:a16="http://schemas.microsoft.com/office/drawing/2014/main" id="{8B6E6A55-9761-A6D6-D262-96A2187910B2}"/>
              </a:ext>
            </a:extLst>
          </p:cNvPr>
          <p:cNvSpPr txBox="1"/>
          <p:nvPr/>
        </p:nvSpPr>
        <p:spPr>
          <a:xfrm>
            <a:off x="632297" y="5630051"/>
            <a:ext cx="3326860" cy="461665"/>
          </a:xfrm>
          <a:prstGeom prst="rect">
            <a:avLst/>
          </a:prstGeom>
          <a:noFill/>
        </p:spPr>
        <p:txBody>
          <a:bodyPr wrap="square" rtlCol="0">
            <a:spAutoFit/>
          </a:bodyPr>
          <a:lstStyle/>
          <a:p>
            <a:pPr marL="285750" indent="-285750">
              <a:buFont typeface="Wingdings" panose="05000000000000000000" pitchFamily="2" charset="2"/>
              <a:buChar char="q"/>
            </a:pPr>
            <a:r>
              <a:rPr lang="en-IN" sz="2400"/>
              <a:t>CONCLUSION</a:t>
            </a:r>
          </a:p>
        </p:txBody>
      </p:sp>
    </p:spTree>
    <p:extLst>
      <p:ext uri="{BB962C8B-B14F-4D97-AF65-F5344CB8AC3E}">
        <p14:creationId val="1200883724"/>
      </p:ext>
    </p:extLst>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a:extLst>
              <a:ext uri="{FF2B5EF4-FFF2-40B4-BE49-F238E27FC236}">
                <a16:creationId xmlns:a16="http://schemas.microsoft.com/office/drawing/2014/main" id="{FD7ADDC9-7D7A-FA32-A376-485E77B38AE7}"/>
              </a:ext>
            </a:extLst>
          </p:cNvPr>
          <p:cNvSpPr txBox="1"/>
          <p:nvPr/>
        </p:nvSpPr>
        <p:spPr>
          <a:xfrm>
            <a:off x="0" y="291830"/>
            <a:ext cx="12192000" cy="707886"/>
          </a:xfrm>
          <a:prstGeom prst="rect">
            <a:avLst/>
          </a:prstGeom>
          <a:noFill/>
        </p:spPr>
        <p:txBody>
          <a:bodyPr wrap="square" rtlCol="0">
            <a:spAutoFit/>
          </a:bodyPr>
          <a:lstStyle/>
          <a:p>
            <a:pPr algn="ctr"/>
            <a:r>
              <a:rPr lang="en-IN" sz="4000">
                <a:latin typeface="Arial Rounded MT Bold" panose="020f0704030504030204" pitchFamily="34" charset="0"/>
              </a:rPr>
              <a:t>INTRODUCTION</a:t>
            </a:r>
          </a:p>
        </p:txBody>
      </p:sp>
      <p:sp>
        <p:nvSpPr>
          <p:cNvPr id="3" name="TextBox 2">
            <a:extLst>
              <a:ext uri="{FF2B5EF4-FFF2-40B4-BE49-F238E27FC236}">
                <a16:creationId xmlns:a16="http://schemas.microsoft.com/office/drawing/2014/main" id="{A97F504B-BF3E-EB19-2497-7428EC13D4DE}"/>
              </a:ext>
            </a:extLst>
          </p:cNvPr>
          <p:cNvSpPr txBox="1"/>
          <p:nvPr/>
        </p:nvSpPr>
        <p:spPr>
          <a:xfrm>
            <a:off x="230221" y="1342417"/>
            <a:ext cx="11731558" cy="646331"/>
          </a:xfrm>
          <a:prstGeom prst="rect">
            <a:avLst/>
          </a:prstGeom>
          <a:noFill/>
        </p:spPr>
        <p:txBody>
          <a:bodyPr wrap="square" rtlCol="0">
            <a:spAutoFit/>
          </a:bodyPr>
          <a:lstStyle/>
          <a:p>
            <a:pPr marL="571500" indent="-571500" algn="ctr">
              <a:buFont typeface="Wingdings" panose="05000000000000000000" pitchFamily="2" charset="2"/>
              <a:buChar char="Ø"/>
            </a:pPr>
            <a:r>
              <a:rPr lang="en-IN" sz="3600"/>
              <a:t>HISTORY</a:t>
            </a:r>
          </a:p>
        </p:txBody>
      </p:sp>
      <p:sp>
        <p:nvSpPr>
          <p:cNvPr id="4" name="TextBox 3">
            <a:extLst>
              <a:ext uri="{FF2B5EF4-FFF2-40B4-BE49-F238E27FC236}">
                <a16:creationId xmlns:a16="http://schemas.microsoft.com/office/drawing/2014/main" id="{9CB022B0-E10E-0E07-C0BA-268B1D3DB98B}"/>
              </a:ext>
            </a:extLst>
          </p:cNvPr>
          <p:cNvSpPr txBox="1"/>
          <p:nvPr/>
        </p:nvSpPr>
        <p:spPr>
          <a:xfrm>
            <a:off x="230221" y="2645923"/>
            <a:ext cx="11731558" cy="3046988"/>
          </a:xfrm>
          <a:prstGeom prst="rect">
            <a:avLst/>
          </a:prstGeom>
          <a:noFill/>
        </p:spPr>
        <p:txBody>
          <a:bodyPr wrap="square" rtlCol="0">
            <a:spAutoFit/>
          </a:bodyPr>
          <a:lstStyle/>
          <a:p>
            <a:pPr algn="just"/>
            <a:r>
              <a:rPr lang="en-US" sz="3200"/>
              <a:t>The first traffic light was installed in London in 1868, but it was manually operated. The modern electric traffic light, with red and green signals, was invented by Garrett Morgan in 1923. It gradually evolved with standardized colors and automated systems, becoming a crucial element for regulating traffic worldwide.</a:t>
            </a:r>
            <a:endParaRPr lang="en-IN" sz="3200"/>
          </a:p>
        </p:txBody>
      </p:sp>
    </p:spTree>
    <p:extLst>
      <p:ext uri="{BB962C8B-B14F-4D97-AF65-F5344CB8AC3E}">
        <p14:creationId val="3682082007"/>
      </p:ext>
    </p:extLst>
  </p:cSld>
  <p:clrMapOvr>
    <a:masterClrMapping/>
  </p:clrMapOvr>
  <p:transition/>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3" name="TextBox 2">
            <a:extLst>
              <a:ext uri="{FF2B5EF4-FFF2-40B4-BE49-F238E27FC236}">
                <a16:creationId xmlns:a16="http://schemas.microsoft.com/office/drawing/2014/main" id="{60FEE923-3A2B-E5C0-951A-9653E55BFB37}"/>
              </a:ext>
            </a:extLst>
          </p:cNvPr>
          <p:cNvSpPr txBox="1"/>
          <p:nvPr/>
        </p:nvSpPr>
        <p:spPr>
          <a:xfrm>
            <a:off x="244813" y="671209"/>
            <a:ext cx="11702374" cy="646331"/>
          </a:xfrm>
          <a:prstGeom prst="rect">
            <a:avLst/>
          </a:prstGeom>
          <a:noFill/>
        </p:spPr>
        <p:txBody>
          <a:bodyPr wrap="square" rtlCol="0">
            <a:spAutoFit/>
          </a:bodyPr>
          <a:lstStyle/>
          <a:p>
            <a:pPr marL="457200" indent="-457200" algn="ctr">
              <a:buFont typeface="Wingdings" panose="05000000000000000000" pitchFamily="2" charset="2"/>
              <a:buChar char="Ø"/>
            </a:pPr>
            <a:r>
              <a:rPr lang="en-IN" sz="3600"/>
              <a:t>WHAT IS TRAFFIC LIGHT </a:t>
            </a:r>
          </a:p>
        </p:txBody>
      </p:sp>
      <p:sp>
        <p:nvSpPr>
          <p:cNvPr id="4" name="TextBox 3">
            <a:extLst>
              <a:ext uri="{FF2B5EF4-FFF2-40B4-BE49-F238E27FC236}">
                <a16:creationId xmlns:a16="http://schemas.microsoft.com/office/drawing/2014/main" id="{B1229536-385E-CA49-A728-638D6FB13EDF}"/>
              </a:ext>
            </a:extLst>
          </p:cNvPr>
          <p:cNvSpPr txBox="1"/>
          <p:nvPr/>
        </p:nvSpPr>
        <p:spPr>
          <a:xfrm>
            <a:off x="244813" y="2286000"/>
            <a:ext cx="11702374" cy="3970318"/>
          </a:xfrm>
          <a:prstGeom prst="rect">
            <a:avLst/>
          </a:prstGeom>
          <a:noFill/>
        </p:spPr>
        <p:txBody>
          <a:bodyPr wrap="square" rtlCol="0">
            <a:spAutoFit/>
          </a:bodyPr>
          <a:lstStyle/>
          <a:p>
            <a:pPr algn="just"/>
            <a:r>
              <a:rPr lang="en-US" sz="3600"/>
              <a:t>A traffic light is a colored signal at intersections on roads. It tells drivers and pedestrians when to stop and when to go. The three colors are red, yellow, and green. Red means stop, yellow means prepare to stop, and green means go. Traffic lights help control the flow of traffic, preventing accidents and making sure everyone moves safely.</a:t>
            </a:r>
            <a:endParaRPr lang="en-IN" sz="3600"/>
          </a:p>
        </p:txBody>
      </p:sp>
    </p:spTree>
    <p:extLst>
      <p:ext uri="{BB962C8B-B14F-4D97-AF65-F5344CB8AC3E}">
        <p14:creationId val="79282692"/>
      </p:ext>
    </p:extLst>
  </p:cSld>
  <p:clrMapOvr>
    <a:masterClrMapping/>
  </p:clrMapOvr>
  <p:transition/>
  <p:timing/>
</p:sld>
</file>

<file path=ppt/slides/slide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a:extLst>
              <a:ext uri="{FF2B5EF4-FFF2-40B4-BE49-F238E27FC236}">
                <a16:creationId xmlns:a16="http://schemas.microsoft.com/office/drawing/2014/main" id="{E77A7398-0986-7389-67A9-46BA5C9FBAA5}"/>
              </a:ext>
            </a:extLst>
          </p:cNvPr>
          <p:cNvSpPr txBox="1"/>
          <p:nvPr/>
        </p:nvSpPr>
        <p:spPr>
          <a:xfrm>
            <a:off x="340468" y="65383"/>
            <a:ext cx="2872066" cy="7478970"/>
          </a:xfrm>
          <a:prstGeom prst="rect">
            <a:avLst/>
          </a:prstGeom>
          <a:noFill/>
        </p:spPr>
        <p:txBody>
          <a:bodyPr wrap="square" rtlCol="0">
            <a:spAutoFit/>
          </a:bodyPr>
          <a:lstStyle/>
          <a:p>
            <a:pPr marL="571500" indent="-571500">
              <a:buFont typeface="Wingdings" panose="05000000000000000000" pitchFamily="2" charset="2"/>
              <a:buChar char="Ø"/>
            </a:pPr>
            <a:endParaRPr lang="en-IN" sz="4000"/>
          </a:p>
          <a:p>
            <a:pPr marL="571500" indent="-571500">
              <a:buFont typeface="Wingdings" panose="05000000000000000000" pitchFamily="2" charset="2"/>
              <a:buChar char="Ø"/>
            </a:pPr>
            <a:r>
              <a:rPr lang="en-IN" sz="4000"/>
              <a:t>RED :</a:t>
            </a:r>
          </a:p>
          <a:p>
            <a:endParaRPr lang="en-IN" sz="4000"/>
          </a:p>
          <a:p>
            <a:endParaRPr lang="en-IN" sz="4000"/>
          </a:p>
          <a:p>
            <a:pPr marL="571500" indent="-571500">
              <a:buFont typeface="Wingdings" panose="05000000000000000000" pitchFamily="2" charset="2"/>
              <a:buChar char="Ø"/>
            </a:pPr>
            <a:r>
              <a:rPr lang="en-IN" sz="4000"/>
              <a:t>YELLOW:</a:t>
            </a:r>
          </a:p>
          <a:p>
            <a:pPr marL="571500" indent="-571500">
              <a:buFont typeface="Wingdings" panose="05000000000000000000" pitchFamily="2" charset="2"/>
              <a:buChar char="Ø"/>
            </a:pPr>
            <a:endParaRPr lang="en-IN" sz="4000"/>
          </a:p>
          <a:p>
            <a:endParaRPr lang="en-IN" sz="4000"/>
          </a:p>
          <a:p>
            <a:endParaRPr lang="en-IN" sz="4000"/>
          </a:p>
          <a:p>
            <a:pPr marL="571500" indent="-571500">
              <a:buFont typeface="Wingdings" panose="05000000000000000000" pitchFamily="2" charset="2"/>
              <a:buChar char="Ø"/>
            </a:pPr>
            <a:r>
              <a:rPr lang="en-IN" sz="4000"/>
              <a:t>GREEN:</a:t>
            </a:r>
          </a:p>
          <a:p>
            <a:pPr marL="571500" indent="-571500">
              <a:buFont typeface="Wingdings" panose="05000000000000000000" pitchFamily="2" charset="2"/>
              <a:buChar char="Ø"/>
            </a:pPr>
            <a:endParaRPr lang="en-IN" sz="4000"/>
          </a:p>
          <a:p>
            <a:pPr marL="571500" indent="-571500">
              <a:buFont typeface="Wingdings" panose="05000000000000000000" pitchFamily="2" charset="2"/>
              <a:buChar char="Ø"/>
            </a:pPr>
            <a:endParaRPr lang="en-IN" sz="4000"/>
          </a:p>
          <a:p>
            <a:endParaRPr lang="en-IN" sz="4000"/>
          </a:p>
        </p:txBody>
      </p:sp>
      <p:sp>
        <p:nvSpPr>
          <p:cNvPr id="4" name="TextBox 3">
            <a:extLst>
              <a:ext uri="{FF2B5EF4-FFF2-40B4-BE49-F238E27FC236}">
                <a16:creationId xmlns:a16="http://schemas.microsoft.com/office/drawing/2014/main" id="{EDEE76DD-A9C4-D4D6-13C5-FFDDF36F303D}"/>
              </a:ext>
            </a:extLst>
          </p:cNvPr>
          <p:cNvSpPr txBox="1"/>
          <p:nvPr/>
        </p:nvSpPr>
        <p:spPr>
          <a:xfrm>
            <a:off x="2988799" y="4748060"/>
            <a:ext cx="6214402" cy="1077218"/>
          </a:xfrm>
          <a:prstGeom prst="rect">
            <a:avLst/>
          </a:prstGeom>
          <a:noFill/>
        </p:spPr>
        <p:txBody>
          <a:bodyPr wrap="square" rtlCol="0">
            <a:spAutoFit/>
          </a:bodyPr>
          <a:lstStyle/>
          <a:p>
            <a:r>
              <a:rPr lang="en-IN" sz="3200"/>
              <a:t>Allows Traffic to proceed in the direction denoted.</a:t>
            </a:r>
          </a:p>
        </p:txBody>
      </p:sp>
      <p:sp>
        <p:nvSpPr>
          <p:cNvPr id="5" name="TextBox 4">
            <a:extLst>
              <a:ext uri="{FF2B5EF4-FFF2-40B4-BE49-F238E27FC236}">
                <a16:creationId xmlns:a16="http://schemas.microsoft.com/office/drawing/2014/main" id="{923D611B-8D7A-139D-A654-B94FF3A8A0B0}"/>
              </a:ext>
            </a:extLst>
          </p:cNvPr>
          <p:cNvSpPr txBox="1"/>
          <p:nvPr/>
        </p:nvSpPr>
        <p:spPr>
          <a:xfrm>
            <a:off x="3212534" y="2344365"/>
            <a:ext cx="6962597" cy="1077218"/>
          </a:xfrm>
          <a:prstGeom prst="rect">
            <a:avLst/>
          </a:prstGeom>
          <a:noFill/>
        </p:spPr>
        <p:txBody>
          <a:bodyPr wrap="square" rtlCol="0">
            <a:spAutoFit/>
          </a:bodyPr>
          <a:lstStyle/>
          <a:p>
            <a:r>
              <a:rPr lang="en-IN" sz="3200"/>
              <a:t>Provides warning that the  warning  signal is changing from green to red.</a:t>
            </a:r>
          </a:p>
        </p:txBody>
      </p:sp>
      <p:sp>
        <p:nvSpPr>
          <p:cNvPr id="7" name="TextBox 6">
            <a:extLst>
              <a:ext uri="{FF2B5EF4-FFF2-40B4-BE49-F238E27FC236}">
                <a16:creationId xmlns:a16="http://schemas.microsoft.com/office/drawing/2014/main" id="{50CCB3E3-0237-9FA9-E13E-E1212F1546CE}"/>
              </a:ext>
            </a:extLst>
          </p:cNvPr>
          <p:cNvSpPr txBox="1"/>
          <p:nvPr/>
        </p:nvSpPr>
        <p:spPr>
          <a:xfrm>
            <a:off x="3212534" y="626952"/>
            <a:ext cx="6271934" cy="1077218"/>
          </a:xfrm>
          <a:prstGeom prst="rect">
            <a:avLst/>
          </a:prstGeom>
          <a:noFill/>
        </p:spPr>
        <p:txBody>
          <a:bodyPr wrap="square" rtlCol="0">
            <a:spAutoFit/>
          </a:bodyPr>
          <a:lstStyle/>
          <a:p>
            <a:r>
              <a:rPr lang="en-IN" sz="3200"/>
              <a:t>Prohibits any traffic from proceeding.</a:t>
            </a:r>
          </a:p>
        </p:txBody>
      </p:sp>
      <p:pic>
        <p:nvPicPr>
          <p:cNvPr id="9" name="Picture 8">
            <a:extLst>
              <a:ext uri="{FF2B5EF4-FFF2-40B4-BE49-F238E27FC236}">
                <a16:creationId xmlns:a16="http://schemas.microsoft.com/office/drawing/2014/main" id="{D27877EF-CBF8-C53E-CB89-A26A8888CA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37386" y="233463"/>
            <a:ext cx="2237363" cy="6429983"/>
          </a:xfrm>
          <a:prstGeom prst="rect">
            <a:avLst/>
          </a:prstGeom>
        </p:spPr>
      </p:pic>
    </p:spTree>
    <p:extLst>
      <p:ext uri="{BB962C8B-B14F-4D97-AF65-F5344CB8AC3E}">
        <p14:creationId val="88641437"/>
      </p:ext>
    </p:extLst>
  </p:cSld>
  <p:clrMapOvr>
    <a:masterClrMapping/>
  </p:clrMapOvr>
  <p:transition/>
  <p:timing/>
</p:sld>
</file>

<file path=ppt/slides/slide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a:extLst>
              <a:ext uri="{FF2B5EF4-FFF2-40B4-BE49-F238E27FC236}">
                <a16:creationId xmlns:a16="http://schemas.microsoft.com/office/drawing/2014/main" id="{D6D0E7B0-EDA0-3126-A222-48B84BF4E0C4}"/>
              </a:ext>
            </a:extLst>
          </p:cNvPr>
          <p:cNvSpPr txBox="1"/>
          <p:nvPr/>
        </p:nvSpPr>
        <p:spPr>
          <a:xfrm>
            <a:off x="0" y="573932"/>
            <a:ext cx="12192000" cy="646331"/>
          </a:xfrm>
          <a:prstGeom prst="rect">
            <a:avLst/>
          </a:prstGeom>
          <a:noFill/>
        </p:spPr>
        <p:txBody>
          <a:bodyPr wrap="square" rtlCol="0">
            <a:spAutoFit/>
          </a:bodyPr>
          <a:lstStyle/>
          <a:p>
            <a:pPr algn="ctr"/>
            <a:r>
              <a:rPr lang="en-IN" sz="3600">
                <a:latin typeface="Algerian" panose="04020705040a02060702" pitchFamily="82" charset="0"/>
              </a:rPr>
              <a:t>Purpose of traffic light </a:t>
            </a:r>
          </a:p>
        </p:txBody>
      </p:sp>
      <p:sp>
        <p:nvSpPr>
          <p:cNvPr id="4" name="TextBox 3">
            <a:extLst>
              <a:ext uri="{FF2B5EF4-FFF2-40B4-BE49-F238E27FC236}">
                <a16:creationId xmlns:a16="http://schemas.microsoft.com/office/drawing/2014/main" id="{4BC99CDA-DD81-7B6A-9E9B-F658853CC2A5}"/>
              </a:ext>
            </a:extLst>
          </p:cNvPr>
          <p:cNvSpPr txBox="1"/>
          <p:nvPr/>
        </p:nvSpPr>
        <p:spPr>
          <a:xfrm>
            <a:off x="408562" y="1317539"/>
            <a:ext cx="4114800" cy="4524315"/>
          </a:xfrm>
          <a:prstGeom prst="rect">
            <a:avLst/>
          </a:prstGeom>
          <a:noFill/>
        </p:spPr>
        <p:txBody>
          <a:bodyPr wrap="square" rtlCol="0">
            <a:spAutoFit/>
          </a:bodyPr>
          <a:lstStyle/>
          <a:p>
            <a:pPr marL="285750" indent="-285750">
              <a:buFont typeface="Wingdings" panose="05000000000000000000" pitchFamily="2" charset="2"/>
              <a:buChar char="Ø"/>
            </a:pPr>
            <a:endParaRPr lang="en-IN" sz="2400">
              <a:latin typeface="Algerian" panose="04020705040a02060702" pitchFamily="82" charset="0"/>
            </a:endParaRPr>
          </a:p>
          <a:p>
            <a:pPr marL="285750" indent="-285750">
              <a:buFont typeface="Wingdings" panose="05000000000000000000" pitchFamily="2" charset="2"/>
              <a:buChar char="Ø"/>
            </a:pPr>
            <a:r>
              <a:rPr lang="en-IN" sz="2400">
                <a:latin typeface="Algerian" panose="04020705040a02060702" pitchFamily="82" charset="0"/>
              </a:rPr>
              <a:t>TRAFFIC CONTROL :</a:t>
            </a:r>
          </a:p>
          <a:p>
            <a:pPr marL="285750" indent="-285750">
              <a:buFont typeface="Wingdings" panose="05000000000000000000" pitchFamily="2" charset="2"/>
              <a:buChar char="Ø"/>
            </a:pPr>
            <a:endParaRPr lang="en-IN" sz="2400">
              <a:latin typeface="Algerian" panose="04020705040a02060702" pitchFamily="82" charset="0"/>
            </a:endParaRPr>
          </a:p>
          <a:p>
            <a:pPr marL="285750" indent="-285750">
              <a:buFont typeface="Wingdings" panose="05000000000000000000" pitchFamily="2" charset="2"/>
              <a:buChar char="Ø"/>
            </a:pPr>
            <a:endParaRPr lang="en-IN" sz="2400">
              <a:latin typeface="Algerian" panose="04020705040a02060702" pitchFamily="82" charset="0"/>
            </a:endParaRPr>
          </a:p>
          <a:p>
            <a:endParaRPr lang="en-IN" sz="2400">
              <a:latin typeface="Algerian" panose="04020705040a02060702" pitchFamily="82" charset="0"/>
            </a:endParaRPr>
          </a:p>
          <a:p>
            <a:pPr marL="342900" indent="-342900">
              <a:buFont typeface="Wingdings" panose="05000000000000000000" pitchFamily="2" charset="2"/>
              <a:buChar char="Ø"/>
            </a:pPr>
            <a:r>
              <a:rPr lang="en-IN" sz="2400">
                <a:latin typeface="Algerian" panose="04020705040a02060702" pitchFamily="82" charset="0"/>
              </a:rPr>
              <a:t> SAFETY  :</a:t>
            </a:r>
          </a:p>
          <a:p>
            <a:pPr marL="285750" indent="-285750">
              <a:buFont typeface="Wingdings" panose="05000000000000000000" pitchFamily="2" charset="2"/>
              <a:buChar char="Ø"/>
            </a:pPr>
            <a:endParaRPr lang="en-IN" sz="2400">
              <a:latin typeface="Algerian" panose="04020705040a02060702" pitchFamily="82" charset="0"/>
            </a:endParaRPr>
          </a:p>
          <a:p>
            <a:pPr marL="285750" indent="-285750">
              <a:buFont typeface="Wingdings" panose="05000000000000000000" pitchFamily="2" charset="2"/>
              <a:buChar char="Ø"/>
            </a:pPr>
            <a:endParaRPr lang="en-IN" sz="2400">
              <a:latin typeface="Algerian" panose="04020705040a02060702" pitchFamily="82" charset="0"/>
            </a:endParaRPr>
          </a:p>
          <a:p>
            <a:pPr marL="285750" indent="-285750">
              <a:buFont typeface="Wingdings" panose="05000000000000000000" pitchFamily="2" charset="2"/>
              <a:buChar char="Ø"/>
            </a:pPr>
            <a:endParaRPr lang="en-IN" sz="2400">
              <a:latin typeface="Algerian" panose="04020705040a02060702" pitchFamily="82" charset="0"/>
            </a:endParaRPr>
          </a:p>
          <a:p>
            <a:endParaRPr lang="en-IN" sz="2400">
              <a:latin typeface="Algerian" panose="04020705040a02060702" pitchFamily="82" charset="0"/>
            </a:endParaRPr>
          </a:p>
          <a:p>
            <a:pPr marL="342900" indent="-342900">
              <a:buFont typeface="Wingdings" panose="05000000000000000000" pitchFamily="2" charset="2"/>
              <a:buChar char="Ø"/>
            </a:pPr>
            <a:r>
              <a:rPr lang="en-IN" sz="2400">
                <a:latin typeface="Algerian" panose="04020705040a02060702" pitchFamily="82" charset="0"/>
              </a:rPr>
              <a:t>EFFICIENCY  :</a:t>
            </a:r>
          </a:p>
          <a:p>
            <a:pPr marL="285750" indent="-285750">
              <a:buFont typeface="Wingdings" panose="05000000000000000000" pitchFamily="2" charset="2"/>
              <a:buChar char="Ø"/>
            </a:pPr>
            <a:endParaRPr lang="en-IN" sz="2400">
              <a:latin typeface="Algerian" panose="04020705040a02060702" pitchFamily="82" charset="0"/>
            </a:endParaRPr>
          </a:p>
        </p:txBody>
      </p:sp>
      <p:sp>
        <p:nvSpPr>
          <p:cNvPr id="5" name="TextBox 4">
            <a:extLst>
              <a:ext uri="{FF2B5EF4-FFF2-40B4-BE49-F238E27FC236}">
                <a16:creationId xmlns:a16="http://schemas.microsoft.com/office/drawing/2014/main" id="{94F89D7C-173D-97F6-A442-22EE8561DAF8}"/>
              </a:ext>
            </a:extLst>
          </p:cNvPr>
          <p:cNvSpPr txBox="1"/>
          <p:nvPr/>
        </p:nvSpPr>
        <p:spPr>
          <a:xfrm>
            <a:off x="3523036" y="1595336"/>
            <a:ext cx="7226028" cy="646331"/>
          </a:xfrm>
          <a:prstGeom prst="rect">
            <a:avLst/>
          </a:prstGeom>
          <a:noFill/>
        </p:spPr>
        <p:txBody>
          <a:bodyPr wrap="square" rtlCol="0">
            <a:spAutoFit/>
          </a:bodyPr>
          <a:lstStyle/>
          <a:p>
            <a:r>
              <a:rPr lang="en-IN"/>
              <a:t>The primary purpose of traffic light is to regulate the flow of vehicles and pedestrians at road intersection.</a:t>
            </a:r>
          </a:p>
        </p:txBody>
      </p:sp>
      <p:sp>
        <p:nvSpPr>
          <p:cNvPr id="6" name="TextBox 5">
            <a:extLst>
              <a:ext uri="{FF2B5EF4-FFF2-40B4-BE49-F238E27FC236}">
                <a16:creationId xmlns:a16="http://schemas.microsoft.com/office/drawing/2014/main" id="{DBD14FBC-1463-A7F2-9F9A-3D74206CE43A}"/>
              </a:ext>
            </a:extLst>
          </p:cNvPr>
          <p:cNvSpPr txBox="1"/>
          <p:nvPr/>
        </p:nvSpPr>
        <p:spPr>
          <a:xfrm>
            <a:off x="3523036" y="2967335"/>
            <a:ext cx="8291208" cy="923330"/>
          </a:xfrm>
          <a:prstGeom prst="rect">
            <a:avLst/>
          </a:prstGeom>
          <a:noFill/>
        </p:spPr>
        <p:txBody>
          <a:bodyPr wrap="square" rtlCol="0">
            <a:spAutoFit/>
          </a:bodyPr>
          <a:lstStyle/>
          <a:p>
            <a:r>
              <a:rPr lang="en-IN"/>
              <a:t>Traffic light enhance road safety by providing clear signals to drivers and pedestrians , reducing the risk of collisions and ensuring orderly movement at intersections.</a:t>
            </a:r>
          </a:p>
        </p:txBody>
      </p:sp>
      <p:sp>
        <p:nvSpPr>
          <p:cNvPr id="7" name="TextBox 6">
            <a:extLst>
              <a:ext uri="{FF2B5EF4-FFF2-40B4-BE49-F238E27FC236}">
                <a16:creationId xmlns:a16="http://schemas.microsoft.com/office/drawing/2014/main" id="{B51AAEC7-F3CD-E601-D9F3-91D9CCD37877}"/>
              </a:ext>
            </a:extLst>
          </p:cNvPr>
          <p:cNvSpPr txBox="1"/>
          <p:nvPr/>
        </p:nvSpPr>
        <p:spPr>
          <a:xfrm>
            <a:off x="3523036" y="4651572"/>
            <a:ext cx="8291208" cy="923330"/>
          </a:xfrm>
          <a:prstGeom prst="rect">
            <a:avLst/>
          </a:prstGeom>
          <a:noFill/>
        </p:spPr>
        <p:txBody>
          <a:bodyPr wrap="square" rtlCol="0">
            <a:spAutoFit/>
          </a:bodyPr>
          <a:lstStyle/>
          <a:p>
            <a:r>
              <a:rPr lang="en-IN"/>
              <a:t>By assigning right of way to different directions at specific ,traffic light help optimize traffic flow ,minimizing congestion and improving  overall transportation efficiency.</a:t>
            </a:r>
          </a:p>
        </p:txBody>
      </p:sp>
    </p:spTree>
    <p:extLst>
      <p:ext uri="{BB962C8B-B14F-4D97-AF65-F5344CB8AC3E}">
        <p14:creationId val="4215326438"/>
      </p:ext>
    </p:extLst>
  </p:cSld>
  <p:clrMapOvr>
    <a:masterClrMapping/>
  </p:clrMapOvr>
  <p:transition/>
  <p:timing/>
</p:sld>
</file>

<file path=ppt/slides/slide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a:extLst>
              <a:ext uri="{FF2B5EF4-FFF2-40B4-BE49-F238E27FC236}">
                <a16:creationId xmlns:a16="http://schemas.microsoft.com/office/drawing/2014/main" id="{FF3B69AE-8C59-9BCA-40AD-0F89B9B0655B}"/>
              </a:ext>
            </a:extLst>
          </p:cNvPr>
          <p:cNvSpPr txBox="1"/>
          <p:nvPr/>
        </p:nvSpPr>
        <p:spPr>
          <a:xfrm>
            <a:off x="2879387" y="379538"/>
            <a:ext cx="6303524" cy="923330"/>
          </a:xfrm>
          <a:prstGeom prst="rect">
            <a:avLst/>
          </a:prstGeom>
          <a:noFill/>
        </p:spPr>
        <p:txBody>
          <a:bodyPr wrap="square" rtlCol="0">
            <a:spAutoFit/>
          </a:bodyPr>
          <a:lstStyle/>
          <a:p>
            <a:r>
              <a:rPr lang="en-IN" sz="5400">
                <a:latin typeface="Algerian" panose="04020705040a02060702" pitchFamily="82" charset="0"/>
              </a:rPr>
              <a:t> ABOUT VERILOG</a:t>
            </a:r>
          </a:p>
        </p:txBody>
      </p:sp>
      <p:sp>
        <p:nvSpPr>
          <p:cNvPr id="3" name="TextBox 2">
            <a:extLst>
              <a:ext uri="{FF2B5EF4-FFF2-40B4-BE49-F238E27FC236}">
                <a16:creationId xmlns:a16="http://schemas.microsoft.com/office/drawing/2014/main" id="{740ADB1E-1F98-F9D9-41A9-7775DEAB7431}"/>
              </a:ext>
            </a:extLst>
          </p:cNvPr>
          <p:cNvSpPr txBox="1"/>
          <p:nvPr/>
        </p:nvSpPr>
        <p:spPr>
          <a:xfrm>
            <a:off x="570689" y="1954147"/>
            <a:ext cx="11050622" cy="4524315"/>
          </a:xfrm>
          <a:prstGeom prst="rect">
            <a:avLst/>
          </a:prstGeom>
          <a:noFill/>
        </p:spPr>
        <p:txBody>
          <a:bodyPr wrap="square" rtlCol="0">
            <a:spAutoFit/>
          </a:bodyPr>
          <a:lstStyle/>
          <a:p>
            <a:pPr marL="285750" indent="-285750" algn="just">
              <a:buFont typeface="Wingdings" panose="05000000000000000000" pitchFamily="2" charset="2"/>
              <a:buChar char="Ø"/>
            </a:pPr>
            <a:r>
              <a:rPr lang="en-US" sz="2400"/>
              <a:t>Verilog is a Hardware Description Language (HDL) used for describing the behavior of electronic systems and designing digital circuits.</a:t>
            </a:r>
          </a:p>
          <a:p>
            <a:pPr marL="285750" indent="-285750" algn="just">
              <a:buFont typeface="Wingdings" panose="05000000000000000000" pitchFamily="2" charset="2"/>
              <a:buChar char="Ø"/>
            </a:pPr>
            <a:endParaRPr lang="en-US" sz="2400"/>
          </a:p>
          <a:p>
            <a:pPr marL="285750" indent="-285750" algn="just">
              <a:buFont typeface="Wingdings" panose="05000000000000000000" pitchFamily="2" charset="2"/>
              <a:buChar char="Ø"/>
            </a:pPr>
            <a:endParaRPr lang="en-US" sz="2400"/>
          </a:p>
          <a:p>
            <a:pPr marL="285750" indent="-285750" algn="just">
              <a:buFont typeface="Wingdings" panose="05000000000000000000" pitchFamily="2" charset="2"/>
              <a:buChar char="Ø"/>
            </a:pPr>
            <a:r>
              <a:rPr lang="en-US" sz="2400"/>
              <a:t>Verilog is used in both simulation and synthesis stages of the design process. Simulation helps validate the functionality of the design, while synthesis converts the Verilog code into a netlist for implementation on hardware.</a:t>
            </a:r>
          </a:p>
          <a:p>
            <a:pPr marL="285750" indent="-285750" algn="just">
              <a:buFont typeface="Wingdings" panose="05000000000000000000" pitchFamily="2" charset="2"/>
              <a:buChar char="Ø"/>
            </a:pPr>
            <a:endParaRPr lang="en-US" sz="2400"/>
          </a:p>
          <a:p>
            <a:pPr algn="just"/>
            <a:endParaRPr lang="en-US" sz="2400"/>
          </a:p>
          <a:p>
            <a:pPr marL="285750" indent="-285750" algn="just">
              <a:buFont typeface="Wingdings" panose="05000000000000000000" pitchFamily="2" charset="2"/>
              <a:buChar char="Ø"/>
            </a:pPr>
            <a:r>
              <a:rPr lang="en-US" sz="2400"/>
              <a:t>IEEE Standard version 1800 in 2009.</a:t>
            </a:r>
          </a:p>
          <a:p>
            <a:pPr algn="just"/>
            <a:endParaRPr lang="en-US" sz="2400"/>
          </a:p>
        </p:txBody>
      </p:sp>
    </p:spTree>
    <p:extLst>
      <p:ext uri="{BB962C8B-B14F-4D97-AF65-F5344CB8AC3E}">
        <p14:creationId val="4232837333"/>
      </p:ext>
    </p:extLst>
  </p:cSld>
  <p:clrMapOvr>
    <a:masterClrMapping/>
  </p:clrMapOvr>
  <p:transition/>
  <p:timing/>
</p:sld>
</file>

<file path=ppt/slides/slide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 name="TextBox 3">
            <a:extLst>
              <a:ext uri="{FF2B5EF4-FFF2-40B4-BE49-F238E27FC236}">
                <a16:creationId xmlns:a16="http://schemas.microsoft.com/office/drawing/2014/main" id="{B4FC35CD-1D74-A1EE-5C3D-1F5F7103AD9C}"/>
              </a:ext>
            </a:extLst>
          </p:cNvPr>
          <p:cNvSpPr txBox="1"/>
          <p:nvPr/>
        </p:nvSpPr>
        <p:spPr>
          <a:xfrm>
            <a:off x="-116732" y="291831"/>
            <a:ext cx="12192000" cy="584775"/>
          </a:xfrm>
          <a:prstGeom prst="rect">
            <a:avLst/>
          </a:prstGeom>
          <a:noFill/>
        </p:spPr>
        <p:txBody>
          <a:bodyPr wrap="square" rtlCol="0">
            <a:spAutoFit/>
          </a:bodyPr>
          <a:lstStyle/>
          <a:p>
            <a:pPr algn="ctr"/>
            <a:r>
              <a:rPr lang="en-IN" sz="3200">
                <a:latin typeface="Algerian" panose="04020705040a02060702" pitchFamily="82" charset="0"/>
              </a:rPr>
              <a:t>OUR  TRAFFIC LIGHT SPECIFICATION </a:t>
            </a:r>
          </a:p>
        </p:txBody>
      </p:sp>
      <p:pic>
        <p:nvPicPr>
          <p:cNvPr id="16" name="Picture 15">
            <a:extLst>
              <a:ext uri="{FF2B5EF4-FFF2-40B4-BE49-F238E27FC236}">
                <a16:creationId xmlns:a16="http://schemas.microsoft.com/office/drawing/2014/main" id="{07F2A29A-7875-9809-4300-E0006E1C0B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9617" y="1053777"/>
            <a:ext cx="8025319" cy="2976663"/>
          </a:xfrm>
          <a:prstGeom prst="rect">
            <a:avLst/>
          </a:prstGeom>
        </p:spPr>
      </p:pic>
      <p:sp>
        <p:nvSpPr>
          <p:cNvPr id="17" name="TextBox 16">
            <a:extLst>
              <a:ext uri="{FF2B5EF4-FFF2-40B4-BE49-F238E27FC236}">
                <a16:creationId xmlns:a16="http://schemas.microsoft.com/office/drawing/2014/main" id="{27CD03CA-90DB-DA87-7ECF-1C3103EE73CC}"/>
              </a:ext>
            </a:extLst>
          </p:cNvPr>
          <p:cNvSpPr txBox="1"/>
          <p:nvPr/>
        </p:nvSpPr>
        <p:spPr>
          <a:xfrm>
            <a:off x="176718" y="4510445"/>
            <a:ext cx="11721831" cy="1938992"/>
          </a:xfrm>
          <a:prstGeom prst="rect">
            <a:avLst/>
          </a:prstGeom>
          <a:noFill/>
        </p:spPr>
        <p:txBody>
          <a:bodyPr wrap="square" rtlCol="0">
            <a:spAutoFit/>
          </a:bodyPr>
          <a:lstStyle/>
          <a:p>
            <a:pPr marL="285750" indent="-285750" algn="just">
              <a:buFont typeface="Wingdings" panose="05000000000000000000" pitchFamily="2" charset="2"/>
              <a:buChar char="Ø"/>
            </a:pPr>
            <a:r>
              <a:rPr lang="en-IN" sz="2400"/>
              <a:t> The traffic signal for the main highway gets highest priority because cars are continuously present on the main highway . Thus, the main highway signal remains green by default. Occasionally , cars from the country road arrive at traffic signal . The traffic signal for the country road must turn green only long enough to let the cars on the country road to go .</a:t>
            </a:r>
          </a:p>
        </p:txBody>
      </p:sp>
    </p:spTree>
    <p:extLst>
      <p:ext uri="{BB962C8B-B14F-4D97-AF65-F5344CB8AC3E}">
        <p14:creationId val="3023443327"/>
      </p:ext>
    </p:extLst>
  </p:cSld>
  <p:clrMapOvr>
    <a:masterClrMapping/>
  </p:clrMapOvr>
  <p:transition/>
  <p:timing/>
</p:sld>
</file>

<file path=ppt/slides/slide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a:extLst>
              <a:ext uri="{FF2B5EF4-FFF2-40B4-BE49-F238E27FC236}">
                <a16:creationId xmlns:a16="http://schemas.microsoft.com/office/drawing/2014/main" id="{1C96315E-E7DC-7084-59C9-C845B6AEFFBB}"/>
              </a:ext>
            </a:extLst>
          </p:cNvPr>
          <p:cNvSpPr txBox="1"/>
          <p:nvPr/>
        </p:nvSpPr>
        <p:spPr>
          <a:xfrm>
            <a:off x="272372" y="728698"/>
            <a:ext cx="11653737" cy="1200329"/>
          </a:xfrm>
          <a:prstGeom prst="rect">
            <a:avLst/>
          </a:prstGeom>
          <a:noFill/>
        </p:spPr>
        <p:txBody>
          <a:bodyPr wrap="square" rtlCol="0">
            <a:spAutoFit/>
          </a:bodyPr>
          <a:lstStyle/>
          <a:p>
            <a:pPr marL="342900" indent="-342900">
              <a:buFont typeface="Wingdings" panose="05000000000000000000" pitchFamily="2" charset="2"/>
              <a:buChar char="Ø"/>
            </a:pPr>
            <a:r>
              <a:rPr lang="en-IN" sz="2400"/>
              <a:t>There is a sensor to detect cars waiting on the country  road the sensor send a signal X as input to the controller . X=1 if there are cars on the country road ; otherwise X=0 (no car).</a:t>
            </a:r>
          </a:p>
        </p:txBody>
      </p:sp>
      <p:pic>
        <p:nvPicPr>
          <p:cNvPr id="4" name="Picture 3">
            <a:extLst>
              <a:ext uri="{FF2B5EF4-FFF2-40B4-BE49-F238E27FC236}">
                <a16:creationId xmlns:a16="http://schemas.microsoft.com/office/drawing/2014/main" id="{7A8CD028-0FC1-6E3C-C66B-9A13949910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2766" y="2356882"/>
            <a:ext cx="4124527" cy="2531267"/>
          </a:xfrm>
          <a:prstGeom prst="rect">
            <a:avLst/>
          </a:prstGeom>
        </p:spPr>
      </p:pic>
      <p:sp>
        <p:nvSpPr>
          <p:cNvPr id="8" name="TextBox 7">
            <a:extLst>
              <a:ext uri="{FF2B5EF4-FFF2-40B4-BE49-F238E27FC236}">
                <a16:creationId xmlns:a16="http://schemas.microsoft.com/office/drawing/2014/main" id="{20E93B2B-9EB3-7513-0F6C-340089529384}"/>
              </a:ext>
            </a:extLst>
          </p:cNvPr>
          <p:cNvSpPr txBox="1"/>
          <p:nvPr/>
        </p:nvSpPr>
        <p:spPr>
          <a:xfrm>
            <a:off x="6254885" y="2402731"/>
            <a:ext cx="5937115" cy="1200329"/>
          </a:xfrm>
          <a:prstGeom prst="rect">
            <a:avLst/>
          </a:prstGeom>
          <a:noFill/>
        </p:spPr>
        <p:txBody>
          <a:bodyPr wrap="square" rtlCol="0">
            <a:spAutoFit/>
          </a:bodyPr>
          <a:lstStyle/>
          <a:p>
            <a:r>
              <a:rPr lang="en-IN" sz="2400"/>
              <a:t>00        RED (R)</a:t>
            </a:r>
          </a:p>
          <a:p>
            <a:r>
              <a:rPr lang="en-IN" sz="2400"/>
              <a:t>01        YELLOW (Y)</a:t>
            </a:r>
          </a:p>
          <a:p>
            <a:r>
              <a:rPr lang="en-IN" sz="2400"/>
              <a:t>10        GREEN (G)</a:t>
            </a:r>
          </a:p>
        </p:txBody>
      </p:sp>
      <p:sp>
        <p:nvSpPr>
          <p:cNvPr id="9" name="TextBox 8">
            <a:extLst>
              <a:ext uri="{FF2B5EF4-FFF2-40B4-BE49-F238E27FC236}">
                <a16:creationId xmlns:a16="http://schemas.microsoft.com/office/drawing/2014/main" id="{4044AD3A-8591-8509-3F94-912A8181239B}"/>
              </a:ext>
            </a:extLst>
          </p:cNvPr>
          <p:cNvSpPr txBox="1"/>
          <p:nvPr/>
        </p:nvSpPr>
        <p:spPr>
          <a:xfrm>
            <a:off x="272372" y="5187370"/>
            <a:ext cx="11653736" cy="830997"/>
          </a:xfrm>
          <a:prstGeom prst="rect">
            <a:avLst/>
          </a:prstGeom>
          <a:noFill/>
        </p:spPr>
        <p:txBody>
          <a:bodyPr wrap="square" rtlCol="0">
            <a:spAutoFit/>
          </a:bodyPr>
          <a:lstStyle/>
          <a:p>
            <a:pPr marL="285750" indent="-285750" algn="just">
              <a:buFont typeface="Wingdings" panose="05000000000000000000" pitchFamily="2" charset="2"/>
              <a:buChar char="Ø"/>
            </a:pPr>
            <a:r>
              <a:rPr lang="en-IN" sz="2400"/>
              <a:t>It is often useful to be able to sequence through an arbitrary number of states , staying each state an arbitrary amount of time .</a:t>
            </a:r>
          </a:p>
        </p:txBody>
      </p:sp>
      <p:cxnSp>
        <p:nvCxnSpPr>
          <p:cNvPr id="13" name="Straight Arrow Connector 12">
            <a:extLst>
              <a:ext uri="{FF2B5EF4-FFF2-40B4-BE49-F238E27FC236}">
                <a16:creationId xmlns:a16="http://schemas.microsoft.com/office/drawing/2014/main" id="{9856C31C-8E69-366D-9602-92C9B6F21697}"/>
              </a:ext>
            </a:extLst>
          </p:cNvPr>
          <p:cNvCxnSpPr/>
          <p:nvPr/>
        </p:nvCxnSpPr>
        <p:spPr>
          <a:xfrm>
            <a:off x="6838544" y="2636196"/>
            <a:ext cx="39883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a:extLst>
              <a:ext uri="{FF2B5EF4-FFF2-40B4-BE49-F238E27FC236}">
                <a16:creationId xmlns:a16="http://schemas.microsoft.com/office/drawing/2014/main" id="{F4FF37E7-8A19-8A8E-271D-6258C1649E24}"/>
              </a:ext>
            </a:extLst>
          </p:cNvPr>
          <p:cNvCxnSpPr/>
          <p:nvPr/>
        </p:nvCxnSpPr>
        <p:spPr>
          <a:xfrm>
            <a:off x="6799634" y="2976664"/>
            <a:ext cx="43774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B71AB123-DAD5-F67C-CFBA-0D7A42871A9C}"/>
              </a:ext>
            </a:extLst>
          </p:cNvPr>
          <p:cNvCxnSpPr/>
          <p:nvPr/>
        </p:nvCxnSpPr>
        <p:spPr>
          <a:xfrm>
            <a:off x="6799634" y="3326860"/>
            <a:ext cx="43774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val="3242482354"/>
      </p:ext>
    </p:extLst>
  </p:cSld>
  <p:clrMapOvr>
    <a:masterClrMapping/>
  </p:clrMapOvr>
  <p:transition/>
  <p:timing/>
</p:sld>
</file>

<file path=ppt/slides/slide1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pic>
        <p:nvPicPr>
          <p:cNvPr id="5" name="Picture 4">
            <a:extLst>
              <a:ext uri="{FF2B5EF4-FFF2-40B4-BE49-F238E27FC236}">
                <a16:creationId xmlns:a16="http://schemas.microsoft.com/office/drawing/2014/main" id="{29123918-031B-0C31-5359-FA16172300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2460" y="1391055"/>
            <a:ext cx="7858125" cy="2586281"/>
          </a:xfrm>
          <a:prstGeom prst="rect">
            <a:avLst/>
          </a:prstGeom>
        </p:spPr>
      </p:pic>
      <p:sp>
        <p:nvSpPr>
          <p:cNvPr id="6" name="TextBox 5">
            <a:extLst>
              <a:ext uri="{FF2B5EF4-FFF2-40B4-BE49-F238E27FC236}">
                <a16:creationId xmlns:a16="http://schemas.microsoft.com/office/drawing/2014/main" id="{B0075D8F-70BC-F62B-ACD3-4C2FADBDC356}"/>
              </a:ext>
            </a:extLst>
          </p:cNvPr>
          <p:cNvSpPr txBox="1"/>
          <p:nvPr/>
        </p:nvSpPr>
        <p:spPr>
          <a:xfrm>
            <a:off x="126459" y="4238548"/>
            <a:ext cx="11702375" cy="830997"/>
          </a:xfrm>
          <a:prstGeom prst="rect">
            <a:avLst/>
          </a:prstGeom>
          <a:noFill/>
        </p:spPr>
        <p:txBody>
          <a:bodyPr wrap="square" rtlCol="0">
            <a:spAutoFit/>
          </a:bodyPr>
          <a:lstStyle/>
          <a:p>
            <a:pPr marL="285750" indent="-285750" algn="just">
              <a:buFont typeface="Wingdings" panose="05000000000000000000" pitchFamily="2" charset="2"/>
              <a:buChar char="Ø"/>
            </a:pPr>
            <a:r>
              <a:rPr lang="en-IN" sz="2400"/>
              <a:t>To simulate this traffic lights we will use the red ,yellow and green LEDs which cycle through the five states as shown in fig.</a:t>
            </a:r>
          </a:p>
        </p:txBody>
      </p:sp>
      <p:sp>
        <p:nvSpPr>
          <p:cNvPr id="7" name="TextBox 6">
            <a:extLst>
              <a:ext uri="{FF2B5EF4-FFF2-40B4-BE49-F238E27FC236}">
                <a16:creationId xmlns:a16="http://schemas.microsoft.com/office/drawing/2014/main" id="{F293BA0B-8834-E077-B9D1-63D4A6C35AC5}"/>
              </a:ext>
            </a:extLst>
          </p:cNvPr>
          <p:cNvSpPr txBox="1"/>
          <p:nvPr/>
        </p:nvSpPr>
        <p:spPr>
          <a:xfrm>
            <a:off x="233464" y="5330757"/>
            <a:ext cx="11702374" cy="830997"/>
          </a:xfrm>
          <a:prstGeom prst="rect">
            <a:avLst/>
          </a:prstGeom>
          <a:noFill/>
        </p:spPr>
        <p:txBody>
          <a:bodyPr wrap="square" rtlCol="0">
            <a:spAutoFit/>
          </a:bodyPr>
          <a:lstStyle/>
          <a:p>
            <a:pPr marL="285750" indent="-285750" algn="just">
              <a:buFont typeface="Wingdings" panose="05000000000000000000" pitchFamily="2" charset="2"/>
              <a:buChar char="Ø"/>
            </a:pPr>
            <a:r>
              <a:rPr lang="en-IN" sz="2400"/>
              <a:t>These five states are S0, S1, S2, S3 and S4 in which S0 is default state it means the highway LED is always green and country side is always red.</a:t>
            </a:r>
          </a:p>
        </p:txBody>
      </p:sp>
      <p:sp>
        <p:nvSpPr>
          <p:cNvPr id="8" name="TextBox 7">
            <a:extLst>
              <a:ext uri="{FF2B5EF4-FFF2-40B4-BE49-F238E27FC236}">
                <a16:creationId xmlns:a16="http://schemas.microsoft.com/office/drawing/2014/main" id="{F6E099AA-9FA3-F0B0-4CDA-D98995AC0029}"/>
              </a:ext>
            </a:extLst>
          </p:cNvPr>
          <p:cNvSpPr txBox="1"/>
          <p:nvPr/>
        </p:nvSpPr>
        <p:spPr>
          <a:xfrm>
            <a:off x="97276" y="434636"/>
            <a:ext cx="11702375" cy="646331"/>
          </a:xfrm>
          <a:prstGeom prst="rect">
            <a:avLst/>
          </a:prstGeom>
          <a:noFill/>
        </p:spPr>
        <p:txBody>
          <a:bodyPr wrap="square" rtlCol="0">
            <a:spAutoFit/>
          </a:bodyPr>
          <a:lstStyle/>
          <a:p>
            <a:pPr algn="ctr"/>
            <a:r>
              <a:rPr lang="en-IN" sz="3600">
                <a:latin typeface="Algerian" panose="04020705040a02060702" pitchFamily="82" charset="0"/>
              </a:rPr>
              <a:t>STATE TABLE </a:t>
            </a:r>
          </a:p>
        </p:txBody>
      </p:sp>
    </p:spTree>
    <p:extLst>
      <p:ext uri="{BB962C8B-B14F-4D97-AF65-F5344CB8AC3E}">
        <p14:creationId val="1609758863"/>
      </p:ext>
    </p:extLst>
  </p:cSld>
  <p:clrMapOvr>
    <a:masterClrMapping/>
  </p:clrMapOvr>
  <p:transition/>
  <p:timing/>
</p:sld>
</file>

<file path=ppt/slides/slide1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pic>
        <p:nvPicPr>
          <p:cNvPr id="3" name="Picture 2">
            <a:extLst>
              <a:ext uri="{FF2B5EF4-FFF2-40B4-BE49-F238E27FC236}">
                <a16:creationId xmlns:a16="http://schemas.microsoft.com/office/drawing/2014/main" id="{11BFB10C-8F2C-072D-85B2-FD8EB0314A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35031" y="1644614"/>
            <a:ext cx="5758267" cy="2674468"/>
          </a:xfrm>
          <a:prstGeom prst="rect">
            <a:avLst/>
          </a:prstGeom>
        </p:spPr>
      </p:pic>
      <p:sp>
        <p:nvSpPr>
          <p:cNvPr id="4" name="TextBox 3">
            <a:extLst>
              <a:ext uri="{FF2B5EF4-FFF2-40B4-BE49-F238E27FC236}">
                <a16:creationId xmlns:a16="http://schemas.microsoft.com/office/drawing/2014/main" id="{A156A990-C6CD-F14E-94CF-B154D01ECB1C}"/>
              </a:ext>
            </a:extLst>
          </p:cNvPr>
          <p:cNvSpPr txBox="1"/>
          <p:nvPr/>
        </p:nvSpPr>
        <p:spPr>
          <a:xfrm>
            <a:off x="212388" y="984408"/>
            <a:ext cx="11767224" cy="461665"/>
          </a:xfrm>
          <a:prstGeom prst="rect">
            <a:avLst/>
          </a:prstGeom>
          <a:noFill/>
        </p:spPr>
        <p:txBody>
          <a:bodyPr wrap="square" rtlCol="0">
            <a:spAutoFit/>
          </a:bodyPr>
          <a:lstStyle/>
          <a:p>
            <a:pPr marL="285750" indent="-285750" algn="just">
              <a:buFont typeface="Wingdings" panose="05000000000000000000" pitchFamily="2" charset="2"/>
              <a:buChar char="Ø"/>
            </a:pPr>
            <a:r>
              <a:rPr lang="en-IN" sz="2400"/>
              <a:t>State diagram for controlling this traffic light as shown in fig.</a:t>
            </a:r>
          </a:p>
        </p:txBody>
      </p:sp>
      <p:sp>
        <p:nvSpPr>
          <p:cNvPr id="5" name="TextBox 4">
            <a:extLst>
              <a:ext uri="{FF2B5EF4-FFF2-40B4-BE49-F238E27FC236}">
                <a16:creationId xmlns:a16="http://schemas.microsoft.com/office/drawing/2014/main" id="{A3A61C45-F41A-DCFE-7A1C-43A3F3551145}"/>
              </a:ext>
            </a:extLst>
          </p:cNvPr>
          <p:cNvSpPr txBox="1"/>
          <p:nvPr/>
        </p:nvSpPr>
        <p:spPr>
          <a:xfrm>
            <a:off x="212387" y="4442431"/>
            <a:ext cx="11767225" cy="1938992"/>
          </a:xfrm>
          <a:prstGeom prst="rect">
            <a:avLst/>
          </a:prstGeom>
          <a:noFill/>
        </p:spPr>
        <p:txBody>
          <a:bodyPr wrap="square" rtlCol="0">
            <a:spAutoFit/>
          </a:bodyPr>
          <a:lstStyle/>
          <a:p>
            <a:pPr marL="285750" indent="-285750" algn="just">
              <a:buFont typeface="Wingdings" panose="05000000000000000000" pitchFamily="2" charset="2"/>
              <a:buChar char="Ø"/>
            </a:pPr>
            <a:r>
              <a:rPr lang="en-IN" sz="2400"/>
              <a:t>If sensor detect cars in country side then value of X become 1 and the state change from S0 to S1 and the state remains same at state S3.</a:t>
            </a:r>
          </a:p>
          <a:p>
            <a:pPr algn="just"/>
            <a:endParaRPr lang="en-IN" sz="2400"/>
          </a:p>
          <a:p>
            <a:pPr marL="285750" indent="-285750" algn="just">
              <a:buFont typeface="Wingdings" panose="05000000000000000000" pitchFamily="2" charset="2"/>
              <a:buChar char="Ø"/>
            </a:pPr>
            <a:r>
              <a:rPr lang="en-IN" sz="2400"/>
              <a:t>If sensor not detect car in country side then X becomes 0 and sate change from S3 to S4 and S0 remains same state . </a:t>
            </a:r>
          </a:p>
        </p:txBody>
      </p:sp>
      <p:sp>
        <p:nvSpPr>
          <p:cNvPr id="6" name="TextBox 5">
            <a:extLst>
              <a:ext uri="{FF2B5EF4-FFF2-40B4-BE49-F238E27FC236}">
                <a16:creationId xmlns:a16="http://schemas.microsoft.com/office/drawing/2014/main" id="{8E1CDE71-01AC-99E5-D63D-CDED423E93B0}"/>
              </a:ext>
            </a:extLst>
          </p:cNvPr>
          <p:cNvSpPr txBox="1"/>
          <p:nvPr/>
        </p:nvSpPr>
        <p:spPr>
          <a:xfrm>
            <a:off x="212386" y="328033"/>
            <a:ext cx="11767225" cy="646331"/>
          </a:xfrm>
          <a:prstGeom prst="rect">
            <a:avLst/>
          </a:prstGeom>
          <a:noFill/>
        </p:spPr>
        <p:txBody>
          <a:bodyPr wrap="square" rtlCol="0">
            <a:spAutoFit/>
          </a:bodyPr>
          <a:lstStyle/>
          <a:p>
            <a:pPr algn="ctr"/>
            <a:r>
              <a:rPr lang="en-IN" sz="3600">
                <a:latin typeface="Algerian" panose="04020705040a02060702" pitchFamily="82" charset="0"/>
              </a:rPr>
              <a:t>STATE DIAGRAM </a:t>
            </a:r>
          </a:p>
        </p:txBody>
      </p:sp>
    </p:spTree>
    <p:extLst>
      <p:ext uri="{BB962C8B-B14F-4D97-AF65-F5344CB8AC3E}">
        <p14:creationId val="4221336350"/>
      </p:ext>
    </p:extLst>
  </p:cSld>
  <p:clrMapOvr>
    <a:masterClrMapping/>
  </p:clrMapOvr>
  <p:transition/>
  <p:timing/>
</p:sld>
</file>

<file path=ppt/slides/slide1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pic>
        <p:nvPicPr>
          <p:cNvPr id="3" name="Picture 2">
            <a:extLst>
              <a:ext uri="{FF2B5EF4-FFF2-40B4-BE49-F238E27FC236}">
                <a16:creationId xmlns:a16="http://schemas.microsoft.com/office/drawing/2014/main" id="{376D189C-C857-1AE0-17CB-C27D715449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0106" y="1167318"/>
            <a:ext cx="10165405" cy="5194571"/>
          </a:xfrm>
          <a:prstGeom prst="rect">
            <a:avLst/>
          </a:prstGeom>
        </p:spPr>
      </p:pic>
      <p:sp>
        <p:nvSpPr>
          <p:cNvPr id="4" name="TextBox 3">
            <a:extLst>
              <a:ext uri="{FF2B5EF4-FFF2-40B4-BE49-F238E27FC236}">
                <a16:creationId xmlns:a16="http://schemas.microsoft.com/office/drawing/2014/main" id="{2B74FD73-9217-8918-96C9-6AAFD8016B01}"/>
              </a:ext>
            </a:extLst>
          </p:cNvPr>
          <p:cNvSpPr txBox="1"/>
          <p:nvPr/>
        </p:nvSpPr>
        <p:spPr>
          <a:xfrm>
            <a:off x="249676" y="359924"/>
            <a:ext cx="11692647" cy="584775"/>
          </a:xfrm>
          <a:prstGeom prst="rect">
            <a:avLst/>
          </a:prstGeom>
          <a:noFill/>
        </p:spPr>
        <p:txBody>
          <a:bodyPr wrap="square" rtlCol="0">
            <a:spAutoFit/>
          </a:bodyPr>
          <a:lstStyle/>
          <a:p>
            <a:pPr algn="ctr"/>
            <a:r>
              <a:rPr lang="en-IN" sz="3200">
                <a:latin typeface="Algerian" panose="04020705040a02060702" pitchFamily="82" charset="0"/>
              </a:rPr>
              <a:t>VERILOG CODE</a:t>
            </a:r>
          </a:p>
        </p:txBody>
      </p:sp>
    </p:spTree>
    <p:extLst>
      <p:ext uri="{BB962C8B-B14F-4D97-AF65-F5344CB8AC3E}">
        <p14:creationId val="12861744"/>
      </p:ext>
    </p:extLst>
  </p:cSld>
  <p:clrMapOvr>
    <a:masterClrMapping/>
  </p:clrMapOvr>
  <p:transition/>
  <p:timing/>
</p:sld>
</file>

<file path=ppt/slides/slide1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pic>
        <p:nvPicPr>
          <p:cNvPr id="3" name="Picture 2">
            <a:extLst>
              <a:ext uri="{FF2B5EF4-FFF2-40B4-BE49-F238E27FC236}">
                <a16:creationId xmlns:a16="http://schemas.microsoft.com/office/drawing/2014/main" id="{A72178E9-BDBC-AE90-6DD8-B1F6880647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8213" y="437745"/>
            <a:ext cx="10710153" cy="5914417"/>
          </a:xfrm>
          <a:prstGeom prst="rect">
            <a:avLst/>
          </a:prstGeom>
        </p:spPr>
      </p:pic>
    </p:spTree>
    <p:extLst>
      <p:ext uri="{BB962C8B-B14F-4D97-AF65-F5344CB8AC3E}">
        <p14:creationId val="637313453"/>
      </p:ext>
    </p:extLst>
  </p:cSld>
  <p:clrMapOvr>
    <a:masterClrMapping/>
  </p:clrMapOvr>
  <p:transition/>
  <p:timing/>
</p:sld>
</file>

<file path=ppt/slides/slide1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pic>
        <p:nvPicPr>
          <p:cNvPr id="3" name="Picture 2">
            <a:extLst>
              <a:ext uri="{FF2B5EF4-FFF2-40B4-BE49-F238E27FC236}">
                <a16:creationId xmlns:a16="http://schemas.microsoft.com/office/drawing/2014/main" id="{E33A473A-1DB6-3F2C-327E-2A7483E471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399" y="622570"/>
            <a:ext cx="10525329" cy="5612859"/>
          </a:xfrm>
          <a:prstGeom prst="rect">
            <a:avLst/>
          </a:prstGeom>
        </p:spPr>
      </p:pic>
    </p:spTree>
    <p:extLst>
      <p:ext uri="{BB962C8B-B14F-4D97-AF65-F5344CB8AC3E}">
        <p14:creationId val="708276095"/>
      </p:ext>
    </p:extLst>
  </p:cSld>
  <p:clrMapOvr>
    <a:masterClrMapping/>
  </p:clrMapOvr>
  <p:transition/>
  <p:timing/>
</p:sld>
</file>

<file path=ppt/slides/slide1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pic>
        <p:nvPicPr>
          <p:cNvPr id="3" name="Picture 2">
            <a:extLst>
              <a:ext uri="{FF2B5EF4-FFF2-40B4-BE49-F238E27FC236}">
                <a16:creationId xmlns:a16="http://schemas.microsoft.com/office/drawing/2014/main" id="{4CF9C39F-B141-C3D9-0179-9E488D28C7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3311" y="642025"/>
            <a:ext cx="10612877" cy="5573949"/>
          </a:xfrm>
          <a:prstGeom prst="rect">
            <a:avLst/>
          </a:prstGeom>
        </p:spPr>
      </p:pic>
    </p:spTree>
    <p:extLst>
      <p:ext uri="{BB962C8B-B14F-4D97-AF65-F5344CB8AC3E}">
        <p14:creationId val="2809479421"/>
      </p:ext>
    </p:extLst>
  </p:cSld>
  <p:clrMapOvr>
    <a:masterClrMapping/>
  </p:clrMapOvr>
  <p:transition/>
  <p:timing/>
</p:sld>
</file>

<file path=ppt/slides/slide1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pic>
        <p:nvPicPr>
          <p:cNvPr id="3" name="Picture 2">
            <a:extLst>
              <a:ext uri="{FF2B5EF4-FFF2-40B4-BE49-F238E27FC236}">
                <a16:creationId xmlns:a16="http://schemas.microsoft.com/office/drawing/2014/main" id="{5F71304B-A93E-F9B8-6B25-D2C952E914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4203" y="1614791"/>
            <a:ext cx="11206263" cy="4727643"/>
          </a:xfrm>
          <a:prstGeom prst="rect">
            <a:avLst/>
          </a:prstGeom>
        </p:spPr>
      </p:pic>
      <p:sp>
        <p:nvSpPr>
          <p:cNvPr id="4" name="TextBox 3">
            <a:extLst>
              <a:ext uri="{FF2B5EF4-FFF2-40B4-BE49-F238E27FC236}">
                <a16:creationId xmlns:a16="http://schemas.microsoft.com/office/drawing/2014/main" id="{9E0865CB-AB93-7FB7-FB2C-AFFF262E4E52}"/>
              </a:ext>
            </a:extLst>
          </p:cNvPr>
          <p:cNvSpPr txBox="1"/>
          <p:nvPr/>
        </p:nvSpPr>
        <p:spPr>
          <a:xfrm>
            <a:off x="239949" y="885218"/>
            <a:ext cx="11712101" cy="523220"/>
          </a:xfrm>
          <a:prstGeom prst="rect">
            <a:avLst/>
          </a:prstGeom>
          <a:noFill/>
        </p:spPr>
        <p:txBody>
          <a:bodyPr wrap="square" rtlCol="0">
            <a:spAutoFit/>
          </a:bodyPr>
          <a:lstStyle/>
          <a:p>
            <a:pPr algn="ctr"/>
            <a:r>
              <a:rPr lang="en-IN" sz="2800"/>
              <a:t>CASE 1 : WHEN X = 0 ( no car present in the country side)</a:t>
            </a:r>
          </a:p>
        </p:txBody>
      </p:sp>
      <p:sp>
        <p:nvSpPr>
          <p:cNvPr id="5" name="TextBox 4">
            <a:extLst>
              <a:ext uri="{FF2B5EF4-FFF2-40B4-BE49-F238E27FC236}">
                <a16:creationId xmlns:a16="http://schemas.microsoft.com/office/drawing/2014/main" id="{5289CF40-A9CD-B759-719B-CBE6EC010AEA}"/>
              </a:ext>
            </a:extLst>
          </p:cNvPr>
          <p:cNvSpPr txBox="1"/>
          <p:nvPr/>
        </p:nvSpPr>
        <p:spPr>
          <a:xfrm>
            <a:off x="4844374" y="398834"/>
            <a:ext cx="248786" cy="369332"/>
          </a:xfrm>
          <a:prstGeom prst="rect">
            <a:avLst/>
          </a:prstGeom>
          <a:noFill/>
        </p:spPr>
        <p:txBody>
          <a:bodyPr wrap="none" rtlCol="0">
            <a:spAutoFit/>
          </a:bodyPr>
          <a:lstStyle/>
          <a:p>
            <a:r>
              <a:rPr lang="en-IN"/>
              <a:t> </a:t>
            </a:r>
          </a:p>
        </p:txBody>
      </p:sp>
      <p:sp>
        <p:nvSpPr>
          <p:cNvPr id="6" name="TextBox 5">
            <a:extLst>
              <a:ext uri="{FF2B5EF4-FFF2-40B4-BE49-F238E27FC236}">
                <a16:creationId xmlns:a16="http://schemas.microsoft.com/office/drawing/2014/main" id="{E5D7AC4E-56A5-16A3-5894-6117D27F5954}"/>
              </a:ext>
            </a:extLst>
          </p:cNvPr>
          <p:cNvSpPr txBox="1"/>
          <p:nvPr/>
        </p:nvSpPr>
        <p:spPr>
          <a:xfrm>
            <a:off x="87546" y="244946"/>
            <a:ext cx="11712101" cy="523220"/>
          </a:xfrm>
          <a:prstGeom prst="rect">
            <a:avLst/>
          </a:prstGeom>
          <a:noFill/>
        </p:spPr>
        <p:txBody>
          <a:bodyPr wrap="square" rtlCol="0">
            <a:spAutoFit/>
          </a:bodyPr>
          <a:lstStyle/>
          <a:p>
            <a:pPr algn="ctr"/>
            <a:r>
              <a:rPr lang="en-IN" sz="2800">
                <a:latin typeface="Algerian" panose="04020705040a02060702" pitchFamily="82" charset="0"/>
              </a:rPr>
              <a:t>SIMULATION RESULT </a:t>
            </a:r>
          </a:p>
        </p:txBody>
      </p:sp>
    </p:spTree>
    <p:extLst>
      <p:ext uri="{BB962C8B-B14F-4D97-AF65-F5344CB8AC3E}">
        <p14:creationId val="4287376709"/>
      </p:ext>
    </p:extLst>
  </p:cSld>
  <p:clrMapOvr>
    <a:masterClrMapping/>
  </p:clrMapOvr>
  <p:transition/>
  <p:timing/>
</p:sld>
</file>

<file path=ppt/slides/slide1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pic>
        <p:nvPicPr>
          <p:cNvPr id="3" name="Picture 2">
            <a:extLst>
              <a:ext uri="{FF2B5EF4-FFF2-40B4-BE49-F238E27FC236}">
                <a16:creationId xmlns:a16="http://schemas.microsoft.com/office/drawing/2014/main" id="{22EC3C3C-8D92-EB61-FCBA-3EA7D8CE79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3374" y="2042809"/>
            <a:ext cx="10885252" cy="4356954"/>
          </a:xfrm>
          <a:prstGeom prst="rect">
            <a:avLst/>
          </a:prstGeom>
        </p:spPr>
      </p:pic>
      <p:sp>
        <p:nvSpPr>
          <p:cNvPr id="4" name="TextBox 3">
            <a:extLst>
              <a:ext uri="{FF2B5EF4-FFF2-40B4-BE49-F238E27FC236}">
                <a16:creationId xmlns:a16="http://schemas.microsoft.com/office/drawing/2014/main" id="{A8F76BDF-C97F-17ED-59EC-41249A3005DE}"/>
              </a:ext>
            </a:extLst>
          </p:cNvPr>
          <p:cNvSpPr txBox="1"/>
          <p:nvPr/>
        </p:nvSpPr>
        <p:spPr>
          <a:xfrm>
            <a:off x="215630" y="740339"/>
            <a:ext cx="11760740" cy="523220"/>
          </a:xfrm>
          <a:prstGeom prst="rect">
            <a:avLst/>
          </a:prstGeom>
          <a:noFill/>
        </p:spPr>
        <p:txBody>
          <a:bodyPr wrap="square" rtlCol="0">
            <a:spAutoFit/>
          </a:bodyPr>
          <a:lstStyle/>
          <a:p>
            <a:pPr algn="ctr"/>
            <a:r>
              <a:rPr lang="en-IN" sz="2800"/>
              <a:t>CASE 2 : X=1 , When vehicle present in the country side</a:t>
            </a:r>
          </a:p>
        </p:txBody>
      </p:sp>
    </p:spTree>
    <p:extLst>
      <p:ext uri="{BB962C8B-B14F-4D97-AF65-F5344CB8AC3E}">
        <p14:creationId val="796309205"/>
      </p:ext>
    </p:extLst>
  </p:cSld>
  <p:clrMapOvr>
    <a:masterClrMapping/>
  </p:clrMapOvr>
  <p:transition/>
  <p:timing/>
</p:sld>
</file>

<file path=ppt/slides/slide1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a:extLst>
              <a:ext uri="{FF2B5EF4-FFF2-40B4-BE49-F238E27FC236}">
                <a16:creationId xmlns:a16="http://schemas.microsoft.com/office/drawing/2014/main" id="{B3A45484-C717-01D2-DE48-54A9B4D6FAFF}"/>
              </a:ext>
            </a:extLst>
          </p:cNvPr>
          <p:cNvSpPr txBox="1"/>
          <p:nvPr/>
        </p:nvSpPr>
        <p:spPr>
          <a:xfrm>
            <a:off x="157263" y="1874728"/>
            <a:ext cx="11702375" cy="3108543"/>
          </a:xfrm>
          <a:prstGeom prst="rect">
            <a:avLst/>
          </a:prstGeom>
          <a:noFill/>
        </p:spPr>
        <p:txBody>
          <a:bodyPr wrap="square" rtlCol="0">
            <a:spAutoFit/>
          </a:bodyPr>
          <a:lstStyle/>
          <a:p>
            <a:pPr algn="just"/>
            <a:r>
              <a:rPr lang="en-IN" sz="2800"/>
              <a:t>The modern ways of multi - way traffic management improves the traffic condition up to a large extent advance signaling controllers contribute to improvement of the urban traffic which is proportional the complexity of the controller this more complex controller can be well handled using state machines .methods to reduce the states in the state machine also help in reducing the require hardware leading to low power and are efficient design .</a:t>
            </a:r>
          </a:p>
        </p:txBody>
      </p:sp>
      <p:sp>
        <p:nvSpPr>
          <p:cNvPr id="3" name="TextBox 2">
            <a:extLst>
              <a:ext uri="{FF2B5EF4-FFF2-40B4-BE49-F238E27FC236}">
                <a16:creationId xmlns:a16="http://schemas.microsoft.com/office/drawing/2014/main" id="{282CA92A-D94B-56F5-49FC-6DF119B46A9A}"/>
              </a:ext>
            </a:extLst>
          </p:cNvPr>
          <p:cNvSpPr txBox="1"/>
          <p:nvPr/>
        </p:nvSpPr>
        <p:spPr>
          <a:xfrm>
            <a:off x="244812" y="466928"/>
            <a:ext cx="11702375" cy="1015663"/>
          </a:xfrm>
          <a:prstGeom prst="rect">
            <a:avLst/>
          </a:prstGeom>
          <a:noFill/>
        </p:spPr>
        <p:txBody>
          <a:bodyPr wrap="square" rtlCol="0">
            <a:spAutoFit/>
          </a:bodyPr>
          <a:lstStyle/>
          <a:p>
            <a:pPr algn="ctr"/>
            <a:r>
              <a:rPr lang="en-IN" sz="6000">
                <a:latin typeface="Algerian" panose="04020705040a02060702" pitchFamily="82" charset="0"/>
              </a:rPr>
              <a:t>CONCLUSION</a:t>
            </a:r>
            <a:r>
              <a:rPr lang="en-IN" sz="3200">
                <a:latin typeface="Algerian" panose="04020705040a02060702" pitchFamily="82" charset="0"/>
              </a:rPr>
              <a:t> </a:t>
            </a:r>
          </a:p>
        </p:txBody>
      </p:sp>
    </p:spTree>
    <p:extLst>
      <p:ext uri="{BB962C8B-B14F-4D97-AF65-F5344CB8AC3E}">
        <p14:creationId val="3681160557"/>
      </p:ext>
    </p:extLst>
  </p:cSld>
  <p:clrMapOvr>
    <a:masterClrMapping/>
  </p:clrMapOvr>
  <p:transition/>
  <p:timing/>
</p:sld>
</file>

<file path=ppt/slides/slide1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a:extLst>
              <a:ext uri="{FF2B5EF4-FFF2-40B4-BE49-F238E27FC236}">
                <a16:creationId xmlns:a16="http://schemas.microsoft.com/office/drawing/2014/main" id="{58D06BE4-90D6-E8B6-CF9B-EFC247D27CE4}"/>
              </a:ext>
            </a:extLst>
          </p:cNvPr>
          <p:cNvSpPr txBox="1"/>
          <p:nvPr/>
        </p:nvSpPr>
        <p:spPr>
          <a:xfrm>
            <a:off x="201038" y="2413337"/>
            <a:ext cx="11789923" cy="1569660"/>
          </a:xfrm>
          <a:prstGeom prst="rect">
            <a:avLst/>
          </a:prstGeom>
          <a:noFill/>
        </p:spPr>
        <p:txBody>
          <a:bodyPr wrap="square" rtlCol="0">
            <a:spAutoFit/>
          </a:bodyPr>
          <a:lstStyle/>
          <a:p>
            <a:pPr algn="ctr"/>
            <a:r>
              <a:rPr lang="en-IN" sz="9600">
                <a:latin typeface="Algerian" panose="04020705040a02060702" pitchFamily="82" charset="0"/>
              </a:rPr>
              <a:t>THANK YOU </a:t>
            </a:r>
          </a:p>
        </p:txBody>
      </p:sp>
    </p:spTree>
    <p:extLst>
      <p:ext uri="{BB962C8B-B14F-4D97-AF65-F5344CB8AC3E}">
        <p14:creationId val="3772158683"/>
      </p:ext>
    </p:extLst>
  </p:cSld>
  <p:clrMapOvr>
    <a:masterClrMapping/>
  </p:clrMapOvr>
  <p:transition/>
  <p:timing/>
</p:sld>
</file>

<file path=ppt/tags/tag1.xml><?xml version="1.0" encoding="utf-8"?>
<p:tagLst xmlns:p="http://schemas.openxmlformats.org/presentationml/2006/main">
  <p:tag name="AS_NET" val="6.0.36"/>
  <p:tag name="AS_OS" val="Unix 5.4.0.216"/>
  <p:tag name="AS_RELEASE_DATE" val="2025.05.14"/>
  <p:tag name="AS_TITLE" val="Aspose.Slides for .NET6"/>
  <p:tag name="AS_VERSION" val="25.5"/>
</p:tagLst>
</file>

<file path=ppt/theme/_rels/theme1.xml.rels>&#65279;<?xml version="1.0" encoding="utf-8" standalone="yes"?><Relationships xmlns="http://schemas.openxmlformats.org/package/2006/relationships"><Relationship Id="rId1" Type="http://schemas.openxmlformats.org/officeDocument/2006/relationships/image" Target="../media/image2.jpeg" /></Relationships>
</file>

<file path=ppt/theme/theme1.xml><?xml version="1.0" encoding="utf-8"?>
<a:theme xmlns:r="http://schemas.openxmlformats.org/officeDocument/2006/relationships"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Century Gothic" panose="020b0502020202020204"/>
        <a:cs typeface="Arial"/>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Century Gothic" panose="020b0502020202020204"/>
        <a:cs typeface="Arial"/>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r:embed="rId1">
            <a:duotone>
              <a:schemeClr val="phClr">
                <a:tint val="95000"/>
              </a:schemeClr>
              <a:schemeClr val="phClr">
                <a:shade val="92000"/>
                <a:satMod val="115000"/>
              </a:schemeClr>
            </a:duotone>
          </a:blip>
          <a:tile tx="0" ty="0" sx="60000" sy="60000" flip="none" algn="tl"/>
        </a:blipFill>
      </a:bgFillStyleLst>
    </a:fmtScheme>
  </a:themeElements>
  <a:objectDefaults/>
  <a:extLst>
    <a:ext uri="{05A4C25C-085E-4340-85A3-A5531E510DB2}">
      <thm15:themeFamily xmlns:thm15="http://schemas.microsoft.com/office/thememl/2012/main" name="Savon" id="{1306E473-ED32-493B-A2D0-240A757EDD34}" vid="{C20BADFE-D095-436F-9677-9264042809F0}"/>
    </a:ext>
  </a:extLst>
</a:theme>
</file>

<file path=docProps/app.xml><?xml version="1.0" encoding="utf-8"?>
<Properties xmlns:vt="http://schemas.openxmlformats.org/officeDocument/2006/docPropsVTypes" xmlns="http://schemas.openxmlformats.org/officeDocument/2006/extended-properties">
  <Template>TM03457510[[fn=Savon]]</Template>
  <Company/>
  <PresentationFormat>Widescreen</PresentationFormat>
  <Paragraphs>61</Paragraphs>
  <Slides>19</Slides>
  <Notes>0</Notes>
  <TotalTime>1724</TotalTime>
  <HiddenSlides>0</HiddenSlides>
  <MMClips>0</MMClips>
  <ScaleCrop>0</ScaleCrop>
  <HeadingPairs>
    <vt:vector baseType="variant" size="6">
      <vt:variant>
        <vt:lpstr>Fonts Used</vt:lpstr>
      </vt:variant>
      <vt:variant>
        <vt:i4>7</vt:i4>
      </vt:variant>
      <vt:variant>
        <vt:lpstr>Theme</vt:lpstr>
      </vt:variant>
      <vt:variant>
        <vt:i4>1</vt:i4>
      </vt:variant>
      <vt:variant>
        <vt:lpstr>Slide Titles</vt:lpstr>
      </vt:variant>
      <vt:variant>
        <vt:i4>19</vt:i4>
      </vt:variant>
    </vt:vector>
  </HeadingPairs>
  <TitlesOfParts>
    <vt:vector baseType="lpstr" size="27">
      <vt:lpstr>Arial</vt:lpstr>
      <vt:lpstr>Century Gothic</vt:lpstr>
      <vt:lpstr>Garamond</vt:lpstr>
      <vt:lpstr>Algerian</vt:lpstr>
      <vt:lpstr>Aharoni</vt:lpstr>
      <vt:lpstr>Wingdings</vt:lpstr>
      <vt:lpstr>Arial Rounded MT Bold</vt:lpstr>
      <vt:lpstr>Savon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0</LinksUpToDate>
  <SharedDoc>0</SharedDoc>
  <HyperlinksChanged>0</HyperlinksChanged>
  <Application>Aspose.Slides for .NET</Application>
  <AppVersion>25.0500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dc:title>PowerPoint Presentation</dc:title>
  <dc:creator>Satish Maurya</dc:creator>
  <cp:lastModifiedBy>amanp131121@gmail.com</cp:lastModifiedBy>
  <cp:revision>5</cp:revision>
  <dcterms:created xsi:type="dcterms:W3CDTF">2024-01-01T09:41:11Z</dcterms:created>
  <dcterms:modified xsi:type="dcterms:W3CDTF">2025-12-10T11:37:55Z</dcterms:modified>
</cp:coreProperties>
</file>